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7"/>
  </p:notesMasterIdLst>
  <p:sldIdLst>
    <p:sldId id="256" r:id="rId2"/>
    <p:sldId id="295" r:id="rId3"/>
    <p:sldId id="296" r:id="rId4"/>
    <p:sldId id="297" r:id="rId5"/>
    <p:sldId id="298" r:id="rId6"/>
    <p:sldId id="299" r:id="rId7"/>
    <p:sldId id="300" r:id="rId8"/>
    <p:sldId id="301" r:id="rId9"/>
    <p:sldId id="302" r:id="rId10"/>
    <p:sldId id="303" r:id="rId11"/>
    <p:sldId id="304" r:id="rId12"/>
    <p:sldId id="305" r:id="rId13"/>
    <p:sldId id="306" r:id="rId14"/>
    <p:sldId id="291" r:id="rId15"/>
    <p:sldId id="292" r:id="rId1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  <a:srgbClr val="EBEBEB"/>
    <a:srgbClr val="FF8A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80274"/>
  </p:normalViewPr>
  <p:slideViewPr>
    <p:cSldViewPr snapToGrid="0" snapToObjects="1">
      <p:cViewPr varScale="1">
        <p:scale>
          <a:sx n="141" d="100"/>
          <a:sy n="141" d="100"/>
        </p:scale>
        <p:origin x="192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7A25BF-7808-2C47-868A-6397D9B1DC8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CE54AD-6590-C242-A57C-54C73BA90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5876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E54AD-6590-C242-A57C-54C73BA9010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4924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forget to import via </a:t>
            </a:r>
            <a:r>
              <a:rPr lang="en-US" dirty="0" err="1"/>
              <a:t>read.csv</a:t>
            </a:r>
            <a:r>
              <a:rPr lang="en-US" dirty="0"/>
              <a:t>, we can fix it later.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E54AD-6590-C242-A57C-54C73BA9010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222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get this error:</a:t>
            </a:r>
          </a:p>
          <a:p>
            <a:endParaRPr lang="en-US" dirty="0"/>
          </a:p>
          <a:p>
            <a:r>
              <a:rPr lang="en-US" dirty="0"/>
              <a:t># Error in </a:t>
            </a:r>
            <a:r>
              <a:rPr lang="en-US" dirty="0" err="1"/>
              <a:t>xtfrm.data.frame</a:t>
            </a:r>
            <a:r>
              <a:rPr lang="en-US" dirty="0"/>
              <a:t>(x) : cannot </a:t>
            </a:r>
            <a:r>
              <a:rPr lang="en-US" dirty="0" err="1"/>
              <a:t>xtfrm</a:t>
            </a:r>
            <a:r>
              <a:rPr lang="en-US" dirty="0"/>
              <a:t> data frames</a:t>
            </a:r>
          </a:p>
          <a:p>
            <a:r>
              <a:rPr lang="en-US" dirty="0"/>
              <a:t># In addition: Warning message:</a:t>
            </a:r>
          </a:p>
          <a:p>
            <a:r>
              <a:rPr lang="en-US" dirty="0"/>
              <a:t>#   Unknown or </a:t>
            </a:r>
            <a:r>
              <a:rPr lang="en-US" dirty="0" err="1"/>
              <a:t>uninitialised</a:t>
            </a:r>
            <a:r>
              <a:rPr lang="en-US" dirty="0"/>
              <a:t> column: `m`.</a:t>
            </a:r>
          </a:p>
          <a:p>
            <a:endParaRPr lang="en-US" dirty="0"/>
          </a:p>
          <a:p>
            <a:r>
              <a:rPr lang="en-US" dirty="0"/>
              <a:t>You have not made the data a </a:t>
            </a:r>
            <a:r>
              <a:rPr lang="en-US" dirty="0" err="1"/>
              <a:t>data.frame</a:t>
            </a:r>
            <a:r>
              <a:rPr lang="en-US" dirty="0"/>
              <a:t>, which is required for the </a:t>
            </a:r>
            <a:r>
              <a:rPr lang="en-US" dirty="0" err="1"/>
              <a:t>JNplots</a:t>
            </a:r>
            <a:r>
              <a:rPr lang="en-US" dirty="0"/>
              <a:t> package.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E54AD-6590-C242-A57C-54C73BA9010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6074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get this error:</a:t>
            </a:r>
          </a:p>
          <a:p>
            <a:endParaRPr lang="en-US" dirty="0"/>
          </a:p>
          <a:p>
            <a:r>
              <a:rPr lang="en-US" dirty="0"/>
              <a:t># Error in </a:t>
            </a:r>
            <a:r>
              <a:rPr lang="en-US" dirty="0" err="1"/>
              <a:t>xtfrm.data.frame</a:t>
            </a:r>
            <a:r>
              <a:rPr lang="en-US" dirty="0"/>
              <a:t>(x) : cannot </a:t>
            </a:r>
            <a:r>
              <a:rPr lang="en-US" dirty="0" err="1"/>
              <a:t>xtfrm</a:t>
            </a:r>
            <a:r>
              <a:rPr lang="en-US" dirty="0"/>
              <a:t> data frames</a:t>
            </a:r>
          </a:p>
          <a:p>
            <a:r>
              <a:rPr lang="en-US" dirty="0"/>
              <a:t># In addition: Warning message:</a:t>
            </a:r>
          </a:p>
          <a:p>
            <a:r>
              <a:rPr lang="en-US" dirty="0"/>
              <a:t>#   Unknown or </a:t>
            </a:r>
            <a:r>
              <a:rPr lang="en-US" dirty="0" err="1"/>
              <a:t>uninitialised</a:t>
            </a:r>
            <a:r>
              <a:rPr lang="en-US" dirty="0"/>
              <a:t> column: `m`.</a:t>
            </a:r>
          </a:p>
          <a:p>
            <a:endParaRPr lang="en-US" dirty="0"/>
          </a:p>
          <a:p>
            <a:r>
              <a:rPr lang="en-US" dirty="0"/>
              <a:t>You have not made the data a </a:t>
            </a:r>
            <a:r>
              <a:rPr lang="en-US" dirty="0" err="1"/>
              <a:t>data.frame</a:t>
            </a:r>
            <a:r>
              <a:rPr lang="en-US" dirty="0"/>
              <a:t>, which is required for the </a:t>
            </a:r>
            <a:r>
              <a:rPr lang="en-US" dirty="0" err="1"/>
              <a:t>JNplots</a:t>
            </a:r>
            <a:r>
              <a:rPr lang="en-US" dirty="0"/>
              <a:t>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E54AD-6590-C242-A57C-54C73BA9010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9802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2389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3246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1568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4984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8448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848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5391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7208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6788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834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5530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164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2F00EC-682C-914D-AEB6-5CDF9A2596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479675"/>
            <a:ext cx="6858000" cy="1655762"/>
          </a:xfrm>
        </p:spPr>
        <p:txBody>
          <a:bodyPr>
            <a:normAutofit/>
          </a:bodyPr>
          <a:lstStyle/>
          <a:p>
            <a:r>
              <a:rPr lang="en-US" sz="3600" dirty="0"/>
              <a:t>ANCOVA: Analysis of Covariance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831946-492F-5E43-8F36-3A26B4452807}"/>
              </a:ext>
            </a:extLst>
          </p:cNvPr>
          <p:cNvSpPr txBox="1"/>
          <p:nvPr/>
        </p:nvSpPr>
        <p:spPr>
          <a:xfrm>
            <a:off x="1343891" y="3307556"/>
            <a:ext cx="71350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1">
                    <a:lumMod val="65000"/>
                  </a:schemeClr>
                </a:solidFill>
              </a:rPr>
              <a:t>Separate Slopes Models: What To Do When the Interaction Is Significant</a:t>
            </a:r>
          </a:p>
        </p:txBody>
      </p:sp>
    </p:spTree>
    <p:extLst>
      <p:ext uri="{BB962C8B-B14F-4D97-AF65-F5344CB8AC3E}">
        <p14:creationId xmlns:p14="http://schemas.microsoft.com/office/powerpoint/2010/main" val="1925518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16A30-EEB9-157E-74E7-86B5F4378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71162"/>
            <a:ext cx="7886700" cy="509875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What a Significant Interaction Means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E2F9B-8290-B695-E486-C2D02A6C4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170" y="865044"/>
            <a:ext cx="7886700" cy="4680238"/>
          </a:xfrm>
        </p:spPr>
        <p:txBody>
          <a:bodyPr/>
          <a:lstStyle/>
          <a:p>
            <a:r>
              <a:rPr lang="en-US" dirty="0"/>
              <a:t>Regression slopes are </a:t>
            </a:r>
            <a:r>
              <a:rPr lang="en-US" b="1" dirty="0"/>
              <a:t>not parallel</a:t>
            </a:r>
          </a:p>
          <a:p>
            <a:r>
              <a:rPr lang="en-US" dirty="0"/>
              <a:t>This violates the standard ANCOVA assumption of </a:t>
            </a:r>
            <a:r>
              <a:rPr lang="en-US" b="1" dirty="0"/>
              <a:t>homogeneous slopes</a:t>
            </a:r>
            <a:endParaRPr lang="en-US" dirty="0"/>
          </a:p>
          <a:p>
            <a:r>
              <a:rPr lang="en-US" dirty="0"/>
              <a:t>The effect of the covariate </a:t>
            </a:r>
            <a:r>
              <a:rPr lang="en-US" b="1" dirty="0"/>
              <a:t>differs across groups</a:t>
            </a:r>
            <a:endParaRPr lang="en-US" dirty="0"/>
          </a:p>
          <a:p>
            <a:r>
              <a:rPr lang="en-US" dirty="0"/>
              <a:t>The relationship between X and Y </a:t>
            </a:r>
            <a:r>
              <a:rPr lang="en-US" b="1" dirty="0"/>
              <a:t>depends on the group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7C9AC2-916E-521A-9A4B-BF8A5A3B70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2472" y="3753242"/>
            <a:ext cx="3841817" cy="2933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5167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3ED50-B4ED-F98E-B33E-6E6DD2C7F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234" y="378981"/>
            <a:ext cx="8307532" cy="729383"/>
          </a:xfrm>
        </p:spPr>
        <p:txBody>
          <a:bodyPr>
            <a:normAutofit fontScale="90000"/>
          </a:bodyPr>
          <a:lstStyle/>
          <a:p>
            <a:r>
              <a:rPr lang="en-US" dirty="0"/>
              <a:t>For models with significant interactions: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20EA7E6-26ED-0959-C3E8-43E74092604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650" y="1367760"/>
            <a:ext cx="8083751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❌ Do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NOT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interpret the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432FF"/>
                </a:solidFill>
                <a:effectLst/>
              </a:rPr>
              <a:t>main effect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of the factor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(it is meaningless when slopes differ)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❌ Do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NOT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remove the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432FF"/>
                </a:solidFill>
                <a:effectLst/>
              </a:rPr>
              <a:t>interaction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just to “fix” things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(this hides real biological differences)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545465-5745-BC80-0DD5-EFB7723318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2472" y="3753242"/>
            <a:ext cx="3841817" cy="2933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25429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94671-4B4D-A9EB-09CA-20043EF83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549274"/>
          </a:xfrm>
        </p:spPr>
        <p:txBody>
          <a:bodyPr>
            <a:normAutofit fontScale="90000"/>
          </a:bodyPr>
          <a:lstStyle/>
          <a:p>
            <a:r>
              <a:rPr lang="en-US" dirty="0"/>
              <a:t>What you should do: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E6D2A8-DC14-F377-B0C3-06A6880D4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Keep the interaction term</a:t>
            </a:r>
          </a:p>
          <a:p>
            <a:r>
              <a:rPr lang="en-US" dirty="0"/>
              <a:t>Forget about interpreting adjusted means  </a:t>
            </a:r>
          </a:p>
          <a:p>
            <a:r>
              <a:rPr lang="en-US" dirty="0"/>
              <a:t>Interpret “simple slopes” by asking, </a:t>
            </a:r>
            <a:r>
              <a:rPr lang="en-US" dirty="0">
                <a:solidFill>
                  <a:srgbClr val="0432FF"/>
                </a:solidFill>
              </a:rPr>
              <a:t>“How does the covariate response differ between groups?” </a:t>
            </a:r>
          </a:p>
          <a:p>
            <a:r>
              <a:rPr lang="en-US" dirty="0"/>
              <a:t>Determine the range over which the covariate (X) does not differ between groups.</a:t>
            </a:r>
          </a:p>
        </p:txBody>
      </p:sp>
    </p:spTree>
    <p:extLst>
      <p:ext uri="{BB962C8B-B14F-4D97-AF65-F5344CB8AC3E}">
        <p14:creationId xmlns:p14="http://schemas.microsoft.com/office/powerpoint/2010/main" val="2353109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3F497-B023-10E0-C1FF-D43CA30CB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534284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Example: Tortoise ‘Head Starting’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DE1C9-45F7-0625-6A46-64EE17FF75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229193"/>
            <a:ext cx="7886700" cy="166031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common management strategy for endangered tortoises is to captively hatch eggs from wild females, raise the hatchlings, and release them when they are old enough to survive in wild.</a:t>
            </a:r>
          </a:p>
        </p:txBody>
      </p:sp>
      <p:pic>
        <p:nvPicPr>
          <p:cNvPr id="1026" name="Picture 2" descr="$8 million partnership with NSF funds six new projects | Allen Family ...">
            <a:extLst>
              <a:ext uri="{FF2B5EF4-FFF2-40B4-BE49-F238E27FC236}">
                <a16:creationId xmlns:a16="http://schemas.microsoft.com/office/drawing/2014/main" id="{BE54ED29-2801-6DF7-9D4D-7E41A93971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378" y="2925487"/>
            <a:ext cx="3230880" cy="1391073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aby gopher tortoises raised at Eckerd College released in Alabama ...">
            <a:extLst>
              <a:ext uri="{FF2B5EF4-FFF2-40B4-BE49-F238E27FC236}">
                <a16:creationId xmlns:a16="http://schemas.microsoft.com/office/drawing/2014/main" id="{263145DB-B6E3-3919-C707-FBD97A69F7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7561" y="2938272"/>
            <a:ext cx="2067433" cy="1378288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Head-starting Program for California Desert Tortoises Begins | San ...">
            <a:extLst>
              <a:ext uri="{FF2B5EF4-FFF2-40B4-BE49-F238E27FC236}">
                <a16:creationId xmlns:a16="http://schemas.microsoft.com/office/drawing/2014/main" id="{314B01BC-0890-7DEF-EE16-33C3ABDFF9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297" y="2940470"/>
            <a:ext cx="2067433" cy="1373264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556AA42-0EC1-F889-1E39-959E6FD420A5}"/>
              </a:ext>
            </a:extLst>
          </p:cNvPr>
          <p:cNvSpPr txBox="1">
            <a:spLocks/>
          </p:cNvSpPr>
          <p:nvPr/>
        </p:nvSpPr>
        <p:spPr>
          <a:xfrm>
            <a:off x="738378" y="4581993"/>
            <a:ext cx="7886700" cy="16603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Does ‘head starting’ increase reproductive output relative to naturally-raised tortoises? We know that tortoises also have larger clutch sizes as they get larger (older).  </a:t>
            </a:r>
          </a:p>
        </p:txBody>
      </p:sp>
    </p:spTree>
    <p:extLst>
      <p:ext uri="{BB962C8B-B14F-4D97-AF65-F5344CB8AC3E}">
        <p14:creationId xmlns:p14="http://schemas.microsoft.com/office/powerpoint/2010/main" val="3089890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5AD53-D103-8DA9-2C85-631D72046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82563"/>
            <a:ext cx="7886700" cy="498474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r>
              <a:rPr lang="en-US" dirty="0"/>
              <a:t>Import -&gt; fit model -&gt; evaluate slopes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578FF-4DB5-E904-3088-12F320B2B2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873918"/>
            <a:ext cx="8237764" cy="5110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 err="1"/>
              <a:t>head_start</a:t>
            </a:r>
            <a:r>
              <a:rPr lang="en-US" sz="2400" dirty="0"/>
              <a:t> &lt;- </a:t>
            </a:r>
            <a:r>
              <a:rPr lang="en-US" sz="2400" dirty="0" err="1">
                <a:solidFill>
                  <a:srgbClr val="C00000"/>
                </a:solidFill>
              </a:rPr>
              <a:t>read.csv</a:t>
            </a:r>
            <a:r>
              <a:rPr lang="en-US" sz="2400" dirty="0"/>
              <a:t>("</a:t>
            </a:r>
            <a:r>
              <a:rPr lang="en-US" sz="2400" dirty="0" err="1"/>
              <a:t>head_start.csv</a:t>
            </a:r>
            <a:r>
              <a:rPr lang="en-US" sz="2400" dirty="0"/>
              <a:t>")</a:t>
            </a:r>
          </a:p>
          <a:p>
            <a:pPr marL="0" indent="0">
              <a:buNone/>
            </a:pPr>
            <a:r>
              <a:rPr lang="en-US" sz="2400" dirty="0" err="1"/>
              <a:t>head_start$treatment</a:t>
            </a:r>
            <a:r>
              <a:rPr lang="en-US" sz="2400" dirty="0"/>
              <a:t> &lt;- </a:t>
            </a:r>
            <a:r>
              <a:rPr lang="en-US" sz="2400" dirty="0">
                <a:solidFill>
                  <a:srgbClr val="C00000"/>
                </a:solidFill>
              </a:rPr>
              <a:t>factor</a:t>
            </a:r>
            <a:r>
              <a:rPr lang="en-US" sz="2400" dirty="0"/>
              <a:t>(</a:t>
            </a:r>
            <a:r>
              <a:rPr lang="en-US" sz="2400" dirty="0" err="1"/>
              <a:t>head_start$treatment</a:t>
            </a:r>
            <a:r>
              <a:rPr lang="en-US" sz="2400" dirty="0"/>
              <a:t>)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C00000"/>
                </a:solidFill>
              </a:rPr>
              <a:t>str</a:t>
            </a:r>
            <a:r>
              <a:rPr lang="en-US" sz="2400" dirty="0"/>
              <a:t>(</a:t>
            </a:r>
            <a:r>
              <a:rPr lang="en-US" sz="2400" dirty="0" err="1"/>
              <a:t>head_start</a:t>
            </a:r>
            <a:r>
              <a:rPr lang="en-US" sz="2400" dirty="0"/>
              <a:t>)</a:t>
            </a:r>
          </a:p>
          <a:p>
            <a:pPr marL="0" indent="0">
              <a:buNone/>
            </a:pPr>
            <a:r>
              <a:rPr lang="en-US" sz="1800" dirty="0"/>
              <a:t># '</a:t>
            </a:r>
            <a:r>
              <a:rPr lang="en-US" sz="1800" dirty="0" err="1"/>
              <a:t>data.frame</a:t>
            </a:r>
            <a:r>
              <a:rPr lang="en-US" sz="1800" dirty="0"/>
              <a:t>':	54 obs. of  3 variables:</a:t>
            </a:r>
          </a:p>
          <a:p>
            <a:pPr marL="0" indent="0">
              <a:buNone/>
            </a:pPr>
            <a:r>
              <a:rPr lang="en-US" sz="1800" dirty="0"/>
              <a:t># $ treatment  : Factor w/ 2 levels # "</a:t>
            </a:r>
            <a:r>
              <a:rPr lang="en-US" sz="1800" dirty="0" err="1"/>
              <a:t>head_start","natural</a:t>
            </a:r>
            <a:r>
              <a:rPr lang="en-US" sz="1800" dirty="0"/>
              <a:t>"...</a:t>
            </a:r>
          </a:p>
          <a:p>
            <a:pPr marL="0" indent="0">
              <a:buNone/>
            </a:pPr>
            <a:r>
              <a:rPr lang="en-US" sz="1800" dirty="0"/>
              <a:t># $ age        : num  25.8 35.8 28.2 37.7 38.8 ...</a:t>
            </a:r>
          </a:p>
          <a:p>
            <a:pPr marL="0" indent="0">
              <a:buNone/>
            </a:pPr>
            <a:r>
              <a:rPr lang="en-US" sz="1800" dirty="0"/>
              <a:t># $ </a:t>
            </a:r>
            <a:r>
              <a:rPr lang="en-US" sz="1800" dirty="0" err="1"/>
              <a:t>clutch_size</a:t>
            </a:r>
            <a:r>
              <a:rPr lang="en-US" sz="1800" dirty="0"/>
              <a:t>: num  10.8 11.7 12 13.9 14 ...</a:t>
            </a:r>
            <a:endParaRPr lang="en-US" sz="2400" dirty="0"/>
          </a:p>
          <a:p>
            <a:pPr marL="0" indent="0">
              <a:buNone/>
            </a:pPr>
            <a:r>
              <a:rPr lang="en-US" sz="2400" dirty="0" err="1">
                <a:solidFill>
                  <a:srgbClr val="C00000"/>
                </a:solidFill>
              </a:rPr>
              <a:t>ancovaplot</a:t>
            </a:r>
            <a:r>
              <a:rPr lang="en-US" sz="2400" dirty="0"/>
              <a:t>(</a:t>
            </a:r>
            <a:r>
              <a:rPr lang="en-US" sz="2400" dirty="0" err="1"/>
              <a:t>clutch_size</a:t>
            </a:r>
            <a:r>
              <a:rPr lang="en-US" sz="2400" dirty="0"/>
              <a:t> ~ age * treatment, data = </a:t>
            </a:r>
            <a:r>
              <a:rPr lang="en-US" sz="2400" dirty="0" err="1"/>
              <a:t>head_start</a:t>
            </a:r>
            <a:r>
              <a:rPr lang="en-US" sz="2400" dirty="0"/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1FBDEA-18B5-9C8D-BBFE-A8FA4CFACB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624" r="5558" b="5315"/>
          <a:stretch>
            <a:fillRect/>
          </a:stretch>
        </p:blipFill>
        <p:spPr>
          <a:xfrm>
            <a:off x="2097768" y="4140086"/>
            <a:ext cx="4478879" cy="257583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09F471-889D-E5C5-0B2A-09C3987D1BC8}"/>
              </a:ext>
            </a:extLst>
          </p:cNvPr>
          <p:cNvSpPr txBox="1"/>
          <p:nvPr/>
        </p:nvSpPr>
        <p:spPr>
          <a:xfrm>
            <a:off x="628650" y="2172193"/>
            <a:ext cx="7003073" cy="15557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76487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32094-E167-A4F3-D7C0-5AFC68EE6D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326571"/>
            <a:ext cx="7886700" cy="58503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 err="1"/>
              <a:t>model_sepslopes</a:t>
            </a:r>
            <a:r>
              <a:rPr lang="en-US" sz="2400" dirty="0"/>
              <a:t> &lt;- </a:t>
            </a:r>
            <a:r>
              <a:rPr lang="en-US" sz="2400" dirty="0" err="1">
                <a:solidFill>
                  <a:srgbClr val="C00000"/>
                </a:solidFill>
              </a:rPr>
              <a:t>lm</a:t>
            </a:r>
            <a:r>
              <a:rPr lang="en-US" sz="2400" dirty="0"/>
              <a:t>(</a:t>
            </a:r>
            <a:r>
              <a:rPr lang="en-US" sz="2400" dirty="0" err="1"/>
              <a:t>clutch_size</a:t>
            </a:r>
            <a:r>
              <a:rPr lang="en-US" sz="2400" dirty="0"/>
              <a:t> ~ age * treatment, </a:t>
            </a:r>
            <a:r>
              <a:rPr lang="en-US" sz="2400" dirty="0">
                <a:solidFill>
                  <a:srgbClr val="00B050"/>
                </a:solidFill>
              </a:rPr>
              <a:t>data</a:t>
            </a:r>
            <a:r>
              <a:rPr lang="en-US" sz="2400" dirty="0"/>
              <a:t> = 	</a:t>
            </a:r>
            <a:r>
              <a:rPr lang="en-US" sz="2400" dirty="0" err="1"/>
              <a:t>head_start</a:t>
            </a:r>
            <a:r>
              <a:rPr lang="en-US" sz="2400" dirty="0"/>
              <a:t>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 err="1">
                <a:solidFill>
                  <a:srgbClr val="C00000"/>
                </a:solidFill>
              </a:rPr>
              <a:t>anova</a:t>
            </a:r>
            <a:r>
              <a:rPr lang="en-US" sz="2400" dirty="0"/>
              <a:t>(</a:t>
            </a:r>
            <a:r>
              <a:rPr lang="en-US" sz="2400" dirty="0" err="1"/>
              <a:t>model_sepslopes</a:t>
            </a:r>
            <a:r>
              <a:rPr lang="en-US" sz="2400" dirty="0"/>
              <a:t>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1900" dirty="0"/>
              <a:t>Analysis of Variance Table</a:t>
            </a:r>
          </a:p>
          <a:p>
            <a:pPr marL="0" indent="0">
              <a:buNone/>
            </a:pPr>
            <a:r>
              <a:rPr lang="en-US" sz="1900" dirty="0"/>
              <a:t>Response: </a:t>
            </a:r>
            <a:r>
              <a:rPr lang="en-US" sz="1900" dirty="0" err="1"/>
              <a:t>clutch_size</a:t>
            </a:r>
            <a:endParaRPr lang="en-US" sz="1900" dirty="0"/>
          </a:p>
          <a:p>
            <a:pPr marL="0" indent="0">
              <a:buNone/>
            </a:pPr>
            <a:r>
              <a:rPr lang="en-US" sz="1900" dirty="0"/>
              <a:t>             	 	</a:t>
            </a:r>
            <a:r>
              <a:rPr lang="en-US" sz="1900" dirty="0" err="1"/>
              <a:t>Df</a:t>
            </a:r>
            <a:r>
              <a:rPr lang="en-US" sz="1900" dirty="0"/>
              <a:t>  	Sum Sq 	Mean Sq F value    </a:t>
            </a:r>
            <a:r>
              <a:rPr lang="en-US" sz="1900" dirty="0" err="1"/>
              <a:t>Pr</a:t>
            </a:r>
            <a:r>
              <a:rPr lang="en-US" sz="1900" dirty="0"/>
              <a:t>(&gt;F)    </a:t>
            </a:r>
          </a:p>
          <a:p>
            <a:pPr marL="0" indent="0">
              <a:buNone/>
            </a:pPr>
            <a:r>
              <a:rPr lang="en-US" sz="1900" dirty="0"/>
              <a:t>age            	1 	104.4	104.4	57.5	7.345e-10 ***</a:t>
            </a:r>
          </a:p>
          <a:p>
            <a:pPr marL="0" indent="0">
              <a:buNone/>
            </a:pPr>
            <a:r>
              <a:rPr lang="en-US" sz="1900" dirty="0"/>
              <a:t>treatment      	1  	16.3 	16.3 	9.0	0.004 ** </a:t>
            </a:r>
          </a:p>
          <a:p>
            <a:pPr marL="0" indent="0">
              <a:buNone/>
            </a:pPr>
            <a:r>
              <a:rPr lang="en-US" sz="1900" dirty="0" err="1"/>
              <a:t>age:treatment</a:t>
            </a:r>
            <a:r>
              <a:rPr lang="en-US" sz="1900" dirty="0"/>
              <a:t>	1   	8.1	8.1	4.5	0.038 *  </a:t>
            </a:r>
          </a:p>
          <a:p>
            <a:pPr marL="0" indent="0">
              <a:buNone/>
            </a:pPr>
            <a:r>
              <a:rPr lang="en-US" sz="1900" dirty="0"/>
              <a:t>Residuals	50  	90.7	1.8                      </a:t>
            </a:r>
          </a:p>
          <a:p>
            <a:pPr marL="0" indent="0">
              <a:buNone/>
            </a:pPr>
            <a:r>
              <a:rPr lang="en-US" sz="1900" dirty="0"/>
              <a:t>---</a:t>
            </a:r>
          </a:p>
          <a:p>
            <a:pPr marL="0" indent="0">
              <a:buNone/>
            </a:pPr>
            <a:r>
              <a:rPr lang="en-US" sz="1900" dirty="0" err="1"/>
              <a:t>Signif</a:t>
            </a:r>
            <a:r>
              <a:rPr lang="en-US" sz="1900" dirty="0"/>
              <a:t>. codes:  0 ‘***’ 0.001 ‘**’ 0.01 ‘*’ 0.05 ‘.’ 0.1 ‘ ’ 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DA7B49-2209-4D41-3035-0FEB2EC0CF5B}"/>
              </a:ext>
            </a:extLst>
          </p:cNvPr>
          <p:cNvSpPr/>
          <p:nvPr/>
        </p:nvSpPr>
        <p:spPr>
          <a:xfrm>
            <a:off x="5992586" y="4359729"/>
            <a:ext cx="1094014" cy="4735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AA2E24-9987-81C9-0F01-03D29D76453A}"/>
              </a:ext>
            </a:extLst>
          </p:cNvPr>
          <p:cNvSpPr txBox="1"/>
          <p:nvPr/>
        </p:nvSpPr>
        <p:spPr>
          <a:xfrm>
            <a:off x="628650" y="2463914"/>
            <a:ext cx="7073412" cy="35500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908268-FCEF-CA52-9A6D-DBD7ED5DA76C}"/>
              </a:ext>
            </a:extLst>
          </p:cNvPr>
          <p:cNvSpPr txBox="1"/>
          <p:nvPr/>
        </p:nvSpPr>
        <p:spPr>
          <a:xfrm>
            <a:off x="6305654" y="4974746"/>
            <a:ext cx="2616340" cy="175432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Sig. Interaction = slopes are different for each group. Cannot just proceed to interpret main effects. Interpret slopes of groups separately.</a:t>
            </a:r>
          </a:p>
        </p:txBody>
      </p:sp>
    </p:spTree>
    <p:extLst>
      <p:ext uri="{BB962C8B-B14F-4D97-AF65-F5344CB8AC3E}">
        <p14:creationId xmlns:p14="http://schemas.microsoft.com/office/powerpoint/2010/main" val="1647794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86297B-F446-B2D6-CF6A-AF54C0DBC2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351692"/>
            <a:ext cx="7886700" cy="582527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Use </a:t>
            </a:r>
            <a:r>
              <a:rPr lang="en-US" dirty="0" err="1">
                <a:solidFill>
                  <a:srgbClr val="7030A0"/>
                </a:solidFill>
              </a:rPr>
              <a:t>emmeans</a:t>
            </a:r>
            <a:r>
              <a:rPr lang="en-US" dirty="0"/>
              <a:t> package to help compare slopes; we already know they are significantly different, but what are the slope values?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>
                <a:solidFill>
                  <a:srgbClr val="C00000"/>
                </a:solidFill>
              </a:rPr>
              <a:t>emtrends</a:t>
            </a:r>
            <a:r>
              <a:rPr lang="en-US" dirty="0"/>
              <a:t>(</a:t>
            </a:r>
            <a:r>
              <a:rPr lang="en-US" dirty="0" err="1"/>
              <a:t>model_sepslopes</a:t>
            </a:r>
            <a:r>
              <a:rPr lang="en-US" dirty="0"/>
              <a:t>, pairwise ~ treatment, var = "age")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#$</a:t>
            </a:r>
            <a:r>
              <a:rPr lang="en-US" dirty="0" err="1"/>
              <a:t>emtrends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#treatment	</a:t>
            </a:r>
            <a:r>
              <a:rPr lang="en-US" dirty="0" err="1"/>
              <a:t>age.trend</a:t>
            </a:r>
            <a:r>
              <a:rPr lang="en-US" dirty="0"/>
              <a:t>     	SE 	</a:t>
            </a:r>
            <a:r>
              <a:rPr lang="en-US" dirty="0" err="1"/>
              <a:t>df</a:t>
            </a:r>
            <a:r>
              <a:rPr lang="en-US" dirty="0"/>
              <a:t>   </a:t>
            </a:r>
            <a:r>
              <a:rPr lang="en-US" dirty="0" err="1"/>
              <a:t>lower.CL</a:t>
            </a:r>
            <a:r>
              <a:rPr lang="en-US" dirty="0"/>
              <a:t> 	</a:t>
            </a:r>
            <a:r>
              <a:rPr lang="en-US" dirty="0" err="1"/>
              <a:t>upper.CL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#</a:t>
            </a:r>
            <a:r>
              <a:rPr lang="en-US" b="1" dirty="0" err="1"/>
              <a:t>head_start</a:t>
            </a:r>
            <a:r>
              <a:rPr lang="en-US" dirty="0"/>
              <a:t>	</a:t>
            </a:r>
            <a:r>
              <a:rPr lang="en-US" b="1" dirty="0"/>
              <a:t>0.156</a:t>
            </a:r>
            <a:r>
              <a:rPr lang="en-US" dirty="0"/>
              <a:t> 		0.04 	50  0.066    	0.246</a:t>
            </a:r>
          </a:p>
          <a:p>
            <a:pPr marL="0" indent="0">
              <a:buNone/>
            </a:pPr>
            <a:r>
              <a:rPr lang="en-US" dirty="0"/>
              <a:t>#</a:t>
            </a:r>
            <a:r>
              <a:rPr lang="en-US" b="1" dirty="0"/>
              <a:t>natural</a:t>
            </a:r>
            <a:r>
              <a:rPr lang="en-US" dirty="0"/>
              <a:t>	</a:t>
            </a:r>
            <a:r>
              <a:rPr lang="en-US" b="1" dirty="0"/>
              <a:t>0.298</a:t>
            </a:r>
            <a:r>
              <a:rPr lang="en-US" dirty="0"/>
              <a:t> 		0.04	50  0.198    	0.397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#Confidence level used: 0.95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#$contrasts</a:t>
            </a:r>
          </a:p>
          <a:p>
            <a:pPr marL="0" indent="0">
              <a:buNone/>
            </a:pPr>
            <a:r>
              <a:rPr lang="en-US" dirty="0"/>
              <a:t>#contrast             	estimate  SE	</a:t>
            </a:r>
            <a:r>
              <a:rPr lang="en-US" dirty="0" err="1"/>
              <a:t>df</a:t>
            </a:r>
            <a:r>
              <a:rPr lang="en-US" dirty="0"/>
              <a:t>   </a:t>
            </a:r>
            <a:r>
              <a:rPr lang="en-US" dirty="0" err="1"/>
              <a:t>t.ratio</a:t>
            </a:r>
            <a:r>
              <a:rPr lang="en-US" dirty="0"/>
              <a:t>    </a:t>
            </a:r>
            <a:r>
              <a:rPr lang="en-US" dirty="0" err="1"/>
              <a:t>p.value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#</a:t>
            </a:r>
            <a:r>
              <a:rPr lang="en-US" dirty="0" err="1"/>
              <a:t>head_start</a:t>
            </a:r>
            <a:r>
              <a:rPr lang="en-US" dirty="0"/>
              <a:t> – natural	-0.142 	  0.06 	50  -2.122    0.038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91ACD18-00A3-0D7B-12D2-445A7B8A9E85}"/>
              </a:ext>
            </a:extLst>
          </p:cNvPr>
          <p:cNvCxnSpPr>
            <a:cxnSpLocks/>
          </p:cNvCxnSpPr>
          <p:nvPr/>
        </p:nvCxnSpPr>
        <p:spPr>
          <a:xfrm flipH="1" flipV="1">
            <a:off x="3341077" y="3024554"/>
            <a:ext cx="1758461" cy="1107831"/>
          </a:xfrm>
          <a:prstGeom prst="straightConnector1">
            <a:avLst/>
          </a:prstGeom>
          <a:ln w="12700">
            <a:solidFill>
              <a:srgbClr val="0432FF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2E3D921-11AB-EDA8-20D6-82DA6F44360E}"/>
              </a:ext>
            </a:extLst>
          </p:cNvPr>
          <p:cNvSpPr txBox="1"/>
          <p:nvPr/>
        </p:nvSpPr>
        <p:spPr>
          <a:xfrm>
            <a:off x="5099538" y="3947719"/>
            <a:ext cx="2925288" cy="369332"/>
          </a:xfrm>
          <a:prstGeom prst="rect">
            <a:avLst/>
          </a:prstGeom>
          <a:noFill/>
          <a:ln>
            <a:solidFill>
              <a:srgbClr val="0432FF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Group slopes (simple slopes)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BF9DA0-EB1F-079E-8299-55E1BBB638B2}"/>
              </a:ext>
            </a:extLst>
          </p:cNvPr>
          <p:cNvSpPr txBox="1"/>
          <p:nvPr/>
        </p:nvSpPr>
        <p:spPr>
          <a:xfrm>
            <a:off x="2848706" y="6124154"/>
            <a:ext cx="2081211" cy="369332"/>
          </a:xfrm>
          <a:prstGeom prst="rect">
            <a:avLst/>
          </a:prstGeom>
          <a:noFill/>
          <a:ln>
            <a:solidFill>
              <a:srgbClr val="0432FF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Difference in slopes 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A2CA63C-78FB-3B5C-0E0A-9B9AE4FC57D0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3889312" y="5715381"/>
            <a:ext cx="0" cy="408773"/>
          </a:xfrm>
          <a:prstGeom prst="straightConnector1">
            <a:avLst/>
          </a:prstGeom>
          <a:ln w="12700">
            <a:solidFill>
              <a:srgbClr val="0432FF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42B9459-2748-D7FC-7456-E43269A2628E}"/>
              </a:ext>
            </a:extLst>
          </p:cNvPr>
          <p:cNvSpPr txBox="1"/>
          <p:nvPr/>
        </p:nvSpPr>
        <p:spPr>
          <a:xfrm>
            <a:off x="628650" y="1848833"/>
            <a:ext cx="7886699" cy="38404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319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550E0A-0132-6170-E31F-E901499522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625" y="191041"/>
            <a:ext cx="8286750" cy="645594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Slopes are sig. different; not a very nuanced answer.</a:t>
            </a:r>
          </a:p>
          <a:p>
            <a:pPr marL="0" indent="0">
              <a:buNone/>
            </a:pPr>
            <a:r>
              <a:rPr lang="en-US" dirty="0"/>
              <a:t>Are there </a:t>
            </a:r>
            <a:r>
              <a:rPr lang="en-US" dirty="0">
                <a:solidFill>
                  <a:srgbClr val="7030A0"/>
                </a:solidFill>
              </a:rPr>
              <a:t>regions</a:t>
            </a:r>
            <a:r>
              <a:rPr lang="en-US" dirty="0"/>
              <a:t> where the slopes are sig. vs. </a:t>
            </a:r>
            <a:r>
              <a:rPr lang="en-US" dirty="0" err="1"/>
              <a:t>n.s</a:t>
            </a:r>
            <a:r>
              <a:rPr lang="en-US" dirty="0"/>
              <a:t>.?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library(</a:t>
            </a:r>
            <a:r>
              <a:rPr lang="en-US" sz="2400" dirty="0" err="1"/>
              <a:t>JNplots</a:t>
            </a:r>
            <a:r>
              <a:rPr lang="en-US" sz="2400" dirty="0">
                <a:solidFill>
                  <a:srgbClr val="00B050"/>
                </a:solidFill>
              </a:rPr>
              <a:t>) # tool for determining </a:t>
            </a:r>
            <a:r>
              <a:rPr lang="en-US" sz="2400" dirty="0" err="1">
                <a:solidFill>
                  <a:srgbClr val="00B050"/>
                </a:solidFill>
              </a:rPr>
              <a:t>n.s</a:t>
            </a:r>
            <a:r>
              <a:rPr lang="en-US" sz="2400" dirty="0">
                <a:solidFill>
                  <a:srgbClr val="00B050"/>
                </a:solidFill>
              </a:rPr>
              <a:t>. regions using the 	Johnson-Neyman technique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 err="1">
                <a:solidFill>
                  <a:srgbClr val="C00000"/>
                </a:solidFill>
              </a:rPr>
              <a:t>as.data.frame</a:t>
            </a:r>
            <a:r>
              <a:rPr lang="en-US" sz="2400" dirty="0"/>
              <a:t>(</a:t>
            </a:r>
            <a:r>
              <a:rPr lang="en-US" sz="2400" dirty="0" err="1"/>
              <a:t>head_start</a:t>
            </a:r>
            <a:r>
              <a:rPr lang="en-US" sz="2400" dirty="0"/>
              <a:t>) </a:t>
            </a:r>
            <a:r>
              <a:rPr lang="en-US" sz="2400" dirty="0">
                <a:solidFill>
                  <a:srgbClr val="00B050"/>
                </a:solidFill>
              </a:rPr>
              <a:t># forces </a:t>
            </a:r>
            <a:r>
              <a:rPr lang="en-US" sz="2400" dirty="0" err="1">
                <a:solidFill>
                  <a:srgbClr val="00B050"/>
                </a:solidFill>
              </a:rPr>
              <a:t>dataframe</a:t>
            </a:r>
            <a:r>
              <a:rPr lang="en-US" sz="2400" dirty="0">
                <a:solidFill>
                  <a:srgbClr val="00B050"/>
                </a:solidFill>
              </a:rPr>
              <a:t> for </a:t>
            </a:r>
            <a:r>
              <a:rPr lang="en-US" sz="2400" dirty="0" err="1">
                <a:solidFill>
                  <a:srgbClr val="00B050"/>
                </a:solidFill>
              </a:rPr>
              <a:t>JNplots</a:t>
            </a:r>
            <a:endParaRPr lang="en-US" sz="2400" dirty="0">
              <a:solidFill>
                <a:srgbClr val="00B050"/>
              </a:solidFill>
            </a:endParaRP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 err="1">
                <a:solidFill>
                  <a:srgbClr val="C00000"/>
                </a:solidFill>
              </a:rPr>
              <a:t>jnt_cat</a:t>
            </a:r>
            <a:r>
              <a:rPr lang="en-US" sz="2400" dirty="0"/>
              <a:t>(X = 'age’, Y = '</a:t>
            </a:r>
            <a:r>
              <a:rPr lang="en-US" sz="2400" dirty="0" err="1"/>
              <a:t>clutch_size</a:t>
            </a:r>
            <a:r>
              <a:rPr lang="en-US" sz="2400" dirty="0"/>
              <a:t>', m = 'treatment', 	data = 	</a:t>
            </a:r>
            <a:r>
              <a:rPr lang="en-US" sz="2400" dirty="0" err="1"/>
              <a:t>head_start</a:t>
            </a:r>
            <a:r>
              <a:rPr lang="en-US" sz="2400" dirty="0"/>
              <a:t>, </a:t>
            </a:r>
            <a:r>
              <a:rPr lang="en-US" sz="2400" dirty="0" err="1"/>
              <a:t>plot.full</a:t>
            </a:r>
            <a:r>
              <a:rPr lang="en-US" sz="2400" dirty="0"/>
              <a:t> = TRUE)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50D38D-88D6-5E76-F749-3AF6BB0036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624" r="5558" b="5315"/>
          <a:stretch>
            <a:fillRect/>
          </a:stretch>
        </p:blipFill>
        <p:spPr>
          <a:xfrm>
            <a:off x="2097768" y="1148204"/>
            <a:ext cx="4057597" cy="2333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7960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9FC88A6-8BFB-E41A-5263-D14F045E6F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5528" y="0"/>
            <a:ext cx="5623173" cy="632607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E28D5-BCF0-A54D-3F26-E3C1B994D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523" y="211015"/>
            <a:ext cx="4128477" cy="647113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…</a:t>
            </a:r>
          </a:p>
          <a:p>
            <a:pPr marL="0" indent="0">
              <a:buNone/>
            </a:pPr>
            <a:r>
              <a:rPr lang="en-US" dirty="0"/>
              <a:t>$`lower limit in X`</a:t>
            </a:r>
          </a:p>
          <a:p>
            <a:pPr marL="0" indent="0">
              <a:buNone/>
            </a:pPr>
            <a:r>
              <a:rPr lang="en-US" dirty="0"/>
              <a:t>(Intercept) </a:t>
            </a:r>
          </a:p>
          <a:p>
            <a:pPr marL="0" indent="0">
              <a:buNone/>
            </a:pPr>
            <a:r>
              <a:rPr lang="en-US" dirty="0"/>
              <a:t>   31.30804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$`upper limit in X`</a:t>
            </a:r>
          </a:p>
          <a:p>
            <a:pPr marL="0" indent="0">
              <a:buNone/>
            </a:pPr>
            <a:r>
              <a:rPr lang="en-US" dirty="0"/>
              <a:t>(Intercept) </a:t>
            </a:r>
          </a:p>
          <a:p>
            <a:pPr marL="0" indent="0">
              <a:buNone/>
            </a:pPr>
            <a:r>
              <a:rPr lang="en-US" dirty="0"/>
              <a:t>   43.71118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Gray box is range where slopes are non-significant.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Slopes are sig. different in white range of the covariate. 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11263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AE6C9-5B68-46AB-5220-8B7233DCC6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108" y="1032729"/>
            <a:ext cx="8809892" cy="58252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 err="1">
                <a:solidFill>
                  <a:srgbClr val="C00000"/>
                </a:solidFill>
              </a:rPr>
              <a:t>ggplot</a:t>
            </a:r>
            <a:r>
              <a:rPr lang="en-US" sz="2400" dirty="0"/>
              <a:t>(</a:t>
            </a:r>
            <a:r>
              <a:rPr lang="en-US" sz="2400" dirty="0" err="1"/>
              <a:t>head_start</a:t>
            </a:r>
            <a:r>
              <a:rPr lang="en-US" sz="2400" dirty="0"/>
              <a:t>, </a:t>
            </a:r>
            <a:r>
              <a:rPr lang="en-US" sz="2400" dirty="0" err="1">
                <a:solidFill>
                  <a:srgbClr val="C00000"/>
                </a:solidFill>
              </a:rPr>
              <a:t>aes</a:t>
            </a:r>
            <a:r>
              <a:rPr lang="en-US" sz="2400" dirty="0"/>
              <a:t>(x = age, y = </a:t>
            </a:r>
            <a:r>
              <a:rPr lang="en-US" sz="2400" dirty="0" err="1"/>
              <a:t>clutch_size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00B050"/>
                </a:solidFill>
              </a:rPr>
              <a:t>color</a:t>
            </a:r>
            <a:r>
              <a:rPr lang="en-US" sz="2400" dirty="0"/>
              <a:t> = treatment)) +</a:t>
            </a:r>
          </a:p>
          <a:p>
            <a:pPr marL="0" indent="0">
              <a:buNone/>
            </a:pPr>
            <a:r>
              <a:rPr lang="en-US" sz="2400" dirty="0"/>
              <a:t>  </a:t>
            </a:r>
            <a:r>
              <a:rPr lang="en-US" sz="2400" dirty="0">
                <a:solidFill>
                  <a:srgbClr val="C00000"/>
                </a:solidFill>
              </a:rPr>
              <a:t>annotate</a:t>
            </a:r>
            <a:r>
              <a:rPr lang="en-US" sz="2400" dirty="0"/>
              <a:t>("</a:t>
            </a:r>
            <a:r>
              <a:rPr lang="en-US" sz="2400" dirty="0" err="1"/>
              <a:t>rect</a:t>
            </a:r>
            <a:r>
              <a:rPr lang="en-US" sz="2400" dirty="0"/>
              <a:t>",</a:t>
            </a:r>
          </a:p>
          <a:p>
            <a:pPr marL="0" indent="0">
              <a:buNone/>
            </a:pPr>
            <a:r>
              <a:rPr lang="en-US" sz="2400" dirty="0"/>
              <a:t>           </a:t>
            </a:r>
            <a:r>
              <a:rPr lang="en-US" sz="2400" dirty="0" err="1"/>
              <a:t>xmin</a:t>
            </a:r>
            <a:r>
              <a:rPr lang="en-US" sz="2400" dirty="0"/>
              <a:t> = 31.3, </a:t>
            </a:r>
            <a:r>
              <a:rPr lang="en-US" sz="2400" dirty="0" err="1"/>
              <a:t>xmax</a:t>
            </a:r>
            <a:r>
              <a:rPr lang="en-US" sz="2400" dirty="0"/>
              <a:t> = 43.7, </a:t>
            </a:r>
            <a:r>
              <a:rPr lang="en-US" sz="2400" dirty="0">
                <a:solidFill>
                  <a:srgbClr val="00B050"/>
                </a:solidFill>
              </a:rPr>
              <a:t>#range of </a:t>
            </a:r>
            <a:r>
              <a:rPr lang="en-US" sz="2400" dirty="0" err="1">
                <a:solidFill>
                  <a:srgbClr val="00B050"/>
                </a:solidFill>
              </a:rPr>
              <a:t>n.s</a:t>
            </a:r>
            <a:r>
              <a:rPr lang="en-US" sz="2400" dirty="0">
                <a:solidFill>
                  <a:srgbClr val="00B050"/>
                </a:solidFill>
              </a:rPr>
              <a:t>. covariate</a:t>
            </a:r>
          </a:p>
          <a:p>
            <a:pPr marL="0" indent="0">
              <a:buNone/>
            </a:pPr>
            <a:r>
              <a:rPr lang="en-US" sz="2400" dirty="0"/>
              <a:t>           </a:t>
            </a:r>
            <a:r>
              <a:rPr lang="en-US" sz="2400" dirty="0" err="1"/>
              <a:t>ymin</a:t>
            </a:r>
            <a:r>
              <a:rPr lang="en-US" sz="2400" dirty="0"/>
              <a:t> = -Inf, </a:t>
            </a:r>
            <a:r>
              <a:rPr lang="en-US" sz="2400" dirty="0" err="1"/>
              <a:t>ymax</a:t>
            </a:r>
            <a:r>
              <a:rPr lang="en-US" sz="2400" dirty="0"/>
              <a:t> = Inf,</a:t>
            </a:r>
          </a:p>
          <a:p>
            <a:pPr marL="0" indent="0">
              <a:buNone/>
            </a:pPr>
            <a:r>
              <a:rPr lang="en-US" sz="2400" dirty="0"/>
              <a:t>           fill = "grey", alpha = 0.3) +</a:t>
            </a:r>
          </a:p>
          <a:p>
            <a:pPr marL="0" indent="0">
              <a:buNone/>
            </a:pPr>
            <a:r>
              <a:rPr lang="en-US" sz="2400" dirty="0"/>
              <a:t>  </a:t>
            </a:r>
            <a:r>
              <a:rPr lang="en-US" sz="2400" dirty="0" err="1">
                <a:solidFill>
                  <a:srgbClr val="C00000"/>
                </a:solidFill>
              </a:rPr>
              <a:t>geom_point</a:t>
            </a:r>
            <a:r>
              <a:rPr lang="en-US" sz="2400" dirty="0">
                <a:solidFill>
                  <a:srgbClr val="C00000"/>
                </a:solidFill>
              </a:rPr>
              <a:t>() </a:t>
            </a:r>
            <a:r>
              <a:rPr lang="en-US" sz="2400" dirty="0"/>
              <a:t>+</a:t>
            </a:r>
          </a:p>
          <a:p>
            <a:pPr marL="0" indent="0">
              <a:buNone/>
            </a:pPr>
            <a:r>
              <a:rPr lang="en-US" sz="2400" dirty="0"/>
              <a:t>  </a:t>
            </a:r>
            <a:r>
              <a:rPr lang="en-US" sz="2400" dirty="0" err="1">
                <a:solidFill>
                  <a:srgbClr val="C00000"/>
                </a:solidFill>
              </a:rPr>
              <a:t>geom_smooth</a:t>
            </a:r>
            <a:r>
              <a:rPr lang="en-US" sz="2400" dirty="0"/>
              <a:t>(method = "</a:t>
            </a:r>
            <a:r>
              <a:rPr lang="en-US" sz="2400" dirty="0" err="1"/>
              <a:t>lm</a:t>
            </a:r>
            <a:r>
              <a:rPr lang="en-US" sz="2400" dirty="0"/>
              <a:t>", se = FALSE) +</a:t>
            </a:r>
          </a:p>
          <a:p>
            <a:pPr marL="0" indent="0">
              <a:buNone/>
            </a:pPr>
            <a:r>
              <a:rPr lang="en-US" sz="2400" dirty="0"/>
              <a:t>  </a:t>
            </a:r>
            <a:r>
              <a:rPr lang="en-US" sz="2400" dirty="0" err="1">
                <a:solidFill>
                  <a:srgbClr val="C00000"/>
                </a:solidFill>
              </a:rPr>
              <a:t>theme_classic</a:t>
            </a:r>
            <a:r>
              <a:rPr lang="en-US" sz="2400" dirty="0"/>
              <a:t>(</a:t>
            </a:r>
            <a:r>
              <a:rPr lang="en-US" sz="2400" dirty="0" err="1"/>
              <a:t>base_size</a:t>
            </a:r>
            <a:r>
              <a:rPr lang="en-US" sz="2400" dirty="0"/>
              <a:t> = 14)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869287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A2FFC9-C0D3-45A8-2092-6B9EE0F88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19949"/>
            <a:ext cx="7772400" cy="4618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8533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4A59F1-E268-F0DB-8217-C6D293D4C0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Results Statement: </a:t>
            </a:r>
          </a:p>
        </p:txBody>
      </p:sp>
      <p:pic>
        <p:nvPicPr>
          <p:cNvPr id="4" name="Picture 6" descr="Head-starting Program for California Desert Tortoises Begins | San ...">
            <a:extLst>
              <a:ext uri="{FF2B5EF4-FFF2-40B4-BE49-F238E27FC236}">
                <a16:creationId xmlns:a16="http://schemas.microsoft.com/office/drawing/2014/main" id="{02B6B37F-4B5A-4313-95C4-2E888DB98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5667" y="144516"/>
            <a:ext cx="2067433" cy="1373264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94705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CFEC69-20B8-1B4B-A347-FFDEF9046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65130-A426-824F-9A92-19CB98E76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4541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8CB94-AB5F-DA0B-37EE-073C28DEA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More than 2 Levels of the Categorical Predictor Variable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F2957C-634C-53EB-297B-67BCD0F36D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use </a:t>
            </a:r>
            <a:r>
              <a:rPr lang="en-US" dirty="0" err="1">
                <a:solidFill>
                  <a:srgbClr val="7030A0"/>
                </a:solidFill>
              </a:rPr>
              <a:t>emmeans</a:t>
            </a:r>
            <a:r>
              <a:rPr lang="en-US" dirty="0"/>
              <a:t> to calculate differences among adjusted means </a:t>
            </a:r>
          </a:p>
          <a:p>
            <a:r>
              <a:rPr lang="en-US" dirty="0"/>
              <a:t> Can use </a:t>
            </a:r>
            <a:r>
              <a:rPr lang="en-US" dirty="0" err="1">
                <a:solidFill>
                  <a:srgbClr val="7030A0"/>
                </a:solidFill>
              </a:rPr>
              <a:t>multcomp</a:t>
            </a:r>
            <a:r>
              <a:rPr lang="en-US" dirty="0"/>
              <a:t> in the same way we did for 1 and 2 way ANOVAs (all are GLMs)</a:t>
            </a:r>
          </a:p>
        </p:txBody>
      </p:sp>
    </p:spTree>
    <p:extLst>
      <p:ext uri="{BB962C8B-B14F-4D97-AF65-F5344CB8AC3E}">
        <p14:creationId xmlns:p14="http://schemas.microsoft.com/office/powerpoint/2010/main" val="9765413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2263</TotalTime>
  <Words>1008</Words>
  <Application>Microsoft Macintosh PowerPoint</Application>
  <PresentationFormat>On-screen Show (4:3)</PresentationFormat>
  <Paragraphs>114</Paragraphs>
  <Slides>15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PowerPoint Presentation</vt:lpstr>
      <vt:lpstr>What a Significant Interaction Means</vt:lpstr>
      <vt:lpstr>For models with significant interactions:</vt:lpstr>
      <vt:lpstr>What you should do:</vt:lpstr>
      <vt:lpstr>Example: Tortoise ‘Head Starting’</vt:lpstr>
      <vt:lpstr>Import -&gt; fit model -&gt; evaluate slopes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Comparing More than 2 Levels of the Categorical Predictor Variable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 6</dc:title>
  <dc:creator>C.M. Gienger</dc:creator>
  <cp:lastModifiedBy>C.M. Gienger</cp:lastModifiedBy>
  <cp:revision>189</cp:revision>
  <dcterms:created xsi:type="dcterms:W3CDTF">2018-11-25T18:01:56Z</dcterms:created>
  <dcterms:modified xsi:type="dcterms:W3CDTF">2025-11-24T13:59:42Z</dcterms:modified>
</cp:coreProperties>
</file>