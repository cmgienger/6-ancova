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EBEBEB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0272"/>
  </p:normalViewPr>
  <p:slideViewPr>
    <p:cSldViewPr snapToGrid="0" snapToObjects="1">
      <p:cViewPr varScale="1">
        <p:scale>
          <a:sx n="106" d="100"/>
          <a:sy n="106" d="100"/>
        </p:scale>
        <p:origin x="20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A25BF-7808-2C47-868A-6397D9B1DC81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E54AD-6590-C242-A57C-54C73BA90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8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92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forget to import via </a:t>
            </a:r>
            <a:r>
              <a:rPr lang="en-US" dirty="0" err="1"/>
              <a:t>read.csv</a:t>
            </a:r>
            <a:r>
              <a:rPr lang="en-US" dirty="0"/>
              <a:t>, we can fix it later.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2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get this error:</a:t>
            </a:r>
          </a:p>
          <a:p>
            <a:endParaRPr lang="en-US" dirty="0"/>
          </a:p>
          <a:p>
            <a:r>
              <a:rPr lang="en-US" dirty="0"/>
              <a:t># Error in </a:t>
            </a:r>
            <a:r>
              <a:rPr lang="en-US" dirty="0" err="1"/>
              <a:t>xtfrm.data.frame</a:t>
            </a:r>
            <a:r>
              <a:rPr lang="en-US" dirty="0"/>
              <a:t>(x) : cannot </a:t>
            </a:r>
            <a:r>
              <a:rPr lang="en-US" dirty="0" err="1"/>
              <a:t>xtfrm</a:t>
            </a:r>
            <a:r>
              <a:rPr lang="en-US" dirty="0"/>
              <a:t> data frames</a:t>
            </a:r>
          </a:p>
          <a:p>
            <a:r>
              <a:rPr lang="en-US" dirty="0"/>
              <a:t># In addition: Warning message:</a:t>
            </a:r>
          </a:p>
          <a:p>
            <a:r>
              <a:rPr lang="en-US" dirty="0"/>
              <a:t>#   Unknown or </a:t>
            </a:r>
            <a:r>
              <a:rPr lang="en-US" dirty="0" err="1"/>
              <a:t>uninitialised</a:t>
            </a:r>
            <a:r>
              <a:rPr lang="en-US" dirty="0"/>
              <a:t> column: `m`.</a:t>
            </a:r>
          </a:p>
          <a:p>
            <a:endParaRPr lang="en-US" dirty="0"/>
          </a:p>
          <a:p>
            <a:r>
              <a:rPr lang="en-US" dirty="0"/>
              <a:t>You have not made the data a </a:t>
            </a:r>
            <a:r>
              <a:rPr lang="en-US" dirty="0" err="1"/>
              <a:t>data.frame</a:t>
            </a:r>
            <a:r>
              <a:rPr lang="en-US" dirty="0"/>
              <a:t>, which is required for the </a:t>
            </a:r>
            <a:r>
              <a:rPr lang="en-US" dirty="0" err="1"/>
              <a:t>JNplots</a:t>
            </a:r>
            <a:r>
              <a:rPr lang="en-US" dirty="0"/>
              <a:t> package.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07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get this error:</a:t>
            </a:r>
          </a:p>
          <a:p>
            <a:endParaRPr lang="en-US" dirty="0"/>
          </a:p>
          <a:p>
            <a:r>
              <a:rPr lang="en-US" dirty="0"/>
              <a:t># Error in </a:t>
            </a:r>
            <a:r>
              <a:rPr lang="en-US" dirty="0" err="1"/>
              <a:t>xtfrm.data.frame</a:t>
            </a:r>
            <a:r>
              <a:rPr lang="en-US" dirty="0"/>
              <a:t>(x) : cannot </a:t>
            </a:r>
            <a:r>
              <a:rPr lang="en-US" dirty="0" err="1"/>
              <a:t>xtfrm</a:t>
            </a:r>
            <a:r>
              <a:rPr lang="en-US" dirty="0"/>
              <a:t> data frames</a:t>
            </a:r>
          </a:p>
          <a:p>
            <a:r>
              <a:rPr lang="en-US" dirty="0"/>
              <a:t># In addition: Warning message:</a:t>
            </a:r>
          </a:p>
          <a:p>
            <a:r>
              <a:rPr lang="en-US" dirty="0"/>
              <a:t>#   Unknown or </a:t>
            </a:r>
            <a:r>
              <a:rPr lang="en-US" dirty="0" err="1"/>
              <a:t>uninitialised</a:t>
            </a:r>
            <a:r>
              <a:rPr lang="en-US" dirty="0"/>
              <a:t> column: `m`.</a:t>
            </a:r>
          </a:p>
          <a:p>
            <a:endParaRPr lang="en-US" dirty="0"/>
          </a:p>
          <a:p>
            <a:r>
              <a:rPr lang="en-US" dirty="0"/>
              <a:t>You have not made the data a </a:t>
            </a:r>
            <a:r>
              <a:rPr lang="en-US" dirty="0" err="1"/>
              <a:t>data.frame</a:t>
            </a:r>
            <a:r>
              <a:rPr lang="en-US" dirty="0"/>
              <a:t>, which is required for the </a:t>
            </a:r>
            <a:r>
              <a:rPr lang="en-US" dirty="0" err="1"/>
              <a:t>JNplots</a:t>
            </a:r>
            <a:r>
              <a:rPr lang="en-US" dirty="0"/>
              <a:t>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80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we have not attempted to discuss a comparison on main effects other than the range of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86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E54AD-6590-C242-A57C-54C73BA901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5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3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46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5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98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4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4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39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20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7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83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53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F23FE-55CC-E249-B9E4-46A8ABB4615B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31721-D0C0-F34A-8623-4E5F0732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6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2F00EC-682C-914D-AEB6-5CDF9A259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479675"/>
            <a:ext cx="6858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ANCOVA: Analysis of Covariance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31946-492F-5E43-8F36-3A26B4452807}"/>
              </a:ext>
            </a:extLst>
          </p:cNvPr>
          <p:cNvSpPr txBox="1"/>
          <p:nvPr/>
        </p:nvSpPr>
        <p:spPr>
          <a:xfrm>
            <a:off x="1343891" y="3307556"/>
            <a:ext cx="7135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Separate Slopes Models: What To Do When the Interaction Is Significant</a:t>
            </a:r>
          </a:p>
        </p:txBody>
      </p:sp>
    </p:spTree>
    <p:extLst>
      <p:ext uri="{BB962C8B-B14F-4D97-AF65-F5344CB8AC3E}">
        <p14:creationId xmlns:p14="http://schemas.microsoft.com/office/powerpoint/2010/main" val="192551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6A30-EEB9-157E-74E7-86B5F437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1162"/>
            <a:ext cx="7886700" cy="50987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a Significant Interaction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2F9B-8290-B695-E486-C2D02A6C4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70" y="865044"/>
            <a:ext cx="7886700" cy="4680238"/>
          </a:xfrm>
        </p:spPr>
        <p:txBody>
          <a:bodyPr/>
          <a:lstStyle/>
          <a:p>
            <a:r>
              <a:rPr lang="en-US" dirty="0"/>
              <a:t>Regression slopes are </a:t>
            </a:r>
            <a:r>
              <a:rPr lang="en-US" b="1" dirty="0"/>
              <a:t>not parallel</a:t>
            </a:r>
          </a:p>
          <a:p>
            <a:r>
              <a:rPr lang="en-US" dirty="0"/>
              <a:t>This violates the standard ANCOVA assumption of </a:t>
            </a:r>
            <a:r>
              <a:rPr lang="en-US" b="1" dirty="0"/>
              <a:t>homogeneous slopes</a:t>
            </a:r>
            <a:endParaRPr lang="en-US" dirty="0"/>
          </a:p>
          <a:p>
            <a:r>
              <a:rPr lang="en-US" dirty="0"/>
              <a:t>The effect of the covariate </a:t>
            </a:r>
            <a:r>
              <a:rPr lang="en-US" b="1" dirty="0"/>
              <a:t>differs across groups</a:t>
            </a:r>
            <a:endParaRPr lang="en-US" dirty="0"/>
          </a:p>
          <a:p>
            <a:r>
              <a:rPr lang="en-US" dirty="0"/>
              <a:t>The relationship between X and Y </a:t>
            </a:r>
            <a:r>
              <a:rPr lang="en-US" b="1" dirty="0"/>
              <a:t>depends on the group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7C9AC2-916E-521A-9A4B-BF8A5A3B7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2472" y="3753242"/>
            <a:ext cx="3841817" cy="293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ED50-B4ED-F98E-B33E-6E6DD2C7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34" y="378981"/>
            <a:ext cx="8307532" cy="729383"/>
          </a:xfrm>
        </p:spPr>
        <p:txBody>
          <a:bodyPr>
            <a:normAutofit fontScale="90000"/>
          </a:bodyPr>
          <a:lstStyle/>
          <a:p>
            <a:r>
              <a:rPr lang="en-US" dirty="0"/>
              <a:t>For models with significant interactions: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0EA7E6-26ED-0959-C3E8-43E7409260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367760"/>
            <a:ext cx="808375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❌ Do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interpret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432FF"/>
                </a:solidFill>
                <a:effectLst/>
              </a:rPr>
              <a:t>main effect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 the factor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(it is meaningless when slopes differ)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❌ Do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remove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432FF"/>
                </a:solidFill>
                <a:effectLst/>
              </a:rPr>
              <a:t>interaction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just to “fix” things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(this hides real biological differences)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45465-5745-BC80-0DD5-EFB772331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72" y="3753242"/>
            <a:ext cx="3841817" cy="293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42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4671-4B4D-A9EB-09CA-20043EF8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US" dirty="0"/>
              <a:t>What you should 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D2A8-DC14-F377-B0C3-06A6880D4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the interaction term</a:t>
            </a:r>
          </a:p>
          <a:p>
            <a:r>
              <a:rPr lang="en-US" dirty="0"/>
              <a:t>Forget about interpreting adjusted means  </a:t>
            </a:r>
          </a:p>
          <a:p>
            <a:r>
              <a:rPr lang="en-US" dirty="0"/>
              <a:t>Interpret “simple slopes” by asking, </a:t>
            </a:r>
            <a:r>
              <a:rPr lang="en-US" dirty="0">
                <a:solidFill>
                  <a:srgbClr val="0432FF"/>
                </a:solidFill>
              </a:rPr>
              <a:t>“How does the covariate response differ between groups?” </a:t>
            </a:r>
          </a:p>
          <a:p>
            <a:r>
              <a:rPr lang="en-US" dirty="0"/>
              <a:t>Determine the range over which the covariate (X) does not differ between groups.</a:t>
            </a:r>
          </a:p>
        </p:txBody>
      </p:sp>
    </p:spTree>
    <p:extLst>
      <p:ext uri="{BB962C8B-B14F-4D97-AF65-F5344CB8AC3E}">
        <p14:creationId xmlns:p14="http://schemas.microsoft.com/office/powerpoint/2010/main" val="2353109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F497-B023-10E0-C1FF-D43CA30CB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34284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Tortoise ‘Head-Starting’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DE1C9-45F7-0625-6A46-64EE17FF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29193"/>
            <a:ext cx="7886700" cy="16603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common management strategy for endangered tortoises is to captively hatch eggs from wild females, raise the hatchlings, and release them when they are old enough to survive in wild.</a:t>
            </a:r>
          </a:p>
        </p:txBody>
      </p:sp>
      <p:pic>
        <p:nvPicPr>
          <p:cNvPr id="1026" name="Picture 2" descr="$8 million partnership with NSF funds six new projects | Allen Family ...">
            <a:extLst>
              <a:ext uri="{FF2B5EF4-FFF2-40B4-BE49-F238E27FC236}">
                <a16:creationId xmlns:a16="http://schemas.microsoft.com/office/drawing/2014/main" id="{BE54ED29-2801-6DF7-9D4D-7E41A9397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78" y="2925487"/>
            <a:ext cx="3230880" cy="13910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aby gopher tortoises raised at Eckerd College released in Alabama ...">
            <a:extLst>
              <a:ext uri="{FF2B5EF4-FFF2-40B4-BE49-F238E27FC236}">
                <a16:creationId xmlns:a16="http://schemas.microsoft.com/office/drawing/2014/main" id="{263145DB-B6E3-3919-C707-FBD97A69F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561" y="2938272"/>
            <a:ext cx="2067433" cy="13782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ead-starting Program for California Desert Tortoises Begins | San ...">
            <a:extLst>
              <a:ext uri="{FF2B5EF4-FFF2-40B4-BE49-F238E27FC236}">
                <a16:creationId xmlns:a16="http://schemas.microsoft.com/office/drawing/2014/main" id="{314B01BC-0890-7DEF-EE16-33C3ABDFF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297" y="2940470"/>
            <a:ext cx="2067433" cy="13732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6AA42-0EC1-F889-1E39-959E6FD420A5}"/>
              </a:ext>
            </a:extLst>
          </p:cNvPr>
          <p:cNvSpPr txBox="1">
            <a:spLocks/>
          </p:cNvSpPr>
          <p:nvPr/>
        </p:nvSpPr>
        <p:spPr>
          <a:xfrm>
            <a:off x="738378" y="4581993"/>
            <a:ext cx="7886700" cy="1660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Does ‘head starting’ increase reproductive output relative to naturally-raised tortoises? We know that tortoises also have larger clutch sizes as they get larger (older).  </a:t>
            </a:r>
          </a:p>
        </p:txBody>
      </p:sp>
    </p:spTree>
    <p:extLst>
      <p:ext uri="{BB962C8B-B14F-4D97-AF65-F5344CB8AC3E}">
        <p14:creationId xmlns:p14="http://schemas.microsoft.com/office/powerpoint/2010/main" val="308989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AD53-D103-8DA9-2C85-631D7204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2563"/>
            <a:ext cx="7886700" cy="49847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Import -&gt; fit model -&gt; evaluate slopes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578FF-4DB5-E904-3088-12F320B2B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73918"/>
            <a:ext cx="8237764" cy="511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head_start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rgbClr val="C00000"/>
                </a:solidFill>
              </a:rPr>
              <a:t>read.csv</a:t>
            </a:r>
            <a:r>
              <a:rPr lang="en-US" sz="2400" dirty="0"/>
              <a:t>("</a:t>
            </a:r>
            <a:r>
              <a:rPr lang="en-US" sz="2400" dirty="0" err="1"/>
              <a:t>head_start.csv</a:t>
            </a:r>
            <a:r>
              <a:rPr lang="en-US" sz="2400" dirty="0"/>
              <a:t>")</a:t>
            </a:r>
          </a:p>
          <a:p>
            <a:pPr marL="0" indent="0">
              <a:buNone/>
            </a:pPr>
            <a:r>
              <a:rPr lang="en-US" sz="2400" dirty="0" err="1"/>
              <a:t>head_start$treatment</a:t>
            </a:r>
            <a:r>
              <a:rPr lang="en-US" sz="2400" dirty="0"/>
              <a:t> &lt;- </a:t>
            </a:r>
            <a:r>
              <a:rPr lang="en-US" sz="2400" dirty="0">
                <a:solidFill>
                  <a:srgbClr val="C00000"/>
                </a:solidFill>
              </a:rPr>
              <a:t>factor</a:t>
            </a:r>
            <a:r>
              <a:rPr lang="en-US" sz="2400" dirty="0"/>
              <a:t>(</a:t>
            </a:r>
            <a:r>
              <a:rPr lang="en-US" sz="2400" dirty="0" err="1"/>
              <a:t>head_start$treatment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str</a:t>
            </a:r>
            <a:r>
              <a:rPr lang="en-US" sz="2400" dirty="0"/>
              <a:t>(</a:t>
            </a:r>
            <a:r>
              <a:rPr lang="en-US" sz="2400" dirty="0" err="1"/>
              <a:t>head_start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1800" dirty="0"/>
              <a:t># '</a:t>
            </a:r>
            <a:r>
              <a:rPr lang="en-US" sz="1800" dirty="0" err="1"/>
              <a:t>data.frame</a:t>
            </a:r>
            <a:r>
              <a:rPr lang="en-US" sz="1800" dirty="0"/>
              <a:t>':	54 obs. of  3 variables:</a:t>
            </a:r>
          </a:p>
          <a:p>
            <a:pPr marL="0" indent="0">
              <a:buNone/>
            </a:pPr>
            <a:r>
              <a:rPr lang="en-US" sz="1800" dirty="0"/>
              <a:t># $ treatment  : Factor w/ 2 levels # "</a:t>
            </a:r>
            <a:r>
              <a:rPr lang="en-US" sz="1800" dirty="0" err="1"/>
              <a:t>head_start","natural</a:t>
            </a:r>
            <a:r>
              <a:rPr lang="en-US" sz="1800" dirty="0"/>
              <a:t>"...</a:t>
            </a:r>
          </a:p>
          <a:p>
            <a:pPr marL="0" indent="0">
              <a:buNone/>
            </a:pPr>
            <a:r>
              <a:rPr lang="en-US" sz="1800" dirty="0"/>
              <a:t># $ age        : num  25.8 35.8 28.2 37.7 38.8 ...</a:t>
            </a:r>
          </a:p>
          <a:p>
            <a:pPr marL="0" indent="0">
              <a:buNone/>
            </a:pPr>
            <a:r>
              <a:rPr lang="en-US" sz="1800" dirty="0"/>
              <a:t># $ </a:t>
            </a:r>
            <a:r>
              <a:rPr lang="en-US" sz="1800" dirty="0" err="1"/>
              <a:t>clutch_size</a:t>
            </a:r>
            <a:r>
              <a:rPr lang="en-US" sz="1800" dirty="0"/>
              <a:t>: num  10.8 11.7 12 13.9 14 ...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ancovaplot</a:t>
            </a:r>
            <a:r>
              <a:rPr lang="en-US" sz="2400" dirty="0"/>
              <a:t>(</a:t>
            </a:r>
            <a:r>
              <a:rPr lang="en-US" sz="2400" dirty="0" err="1"/>
              <a:t>clutch_size</a:t>
            </a:r>
            <a:r>
              <a:rPr lang="en-US" sz="2400" dirty="0"/>
              <a:t> ~ age * treatment, data = </a:t>
            </a:r>
            <a:r>
              <a:rPr lang="en-US" sz="2400" dirty="0" err="1"/>
              <a:t>head_start</a:t>
            </a:r>
            <a:r>
              <a:rPr lang="en-US" sz="24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FBDEA-18B5-9C8D-BBFE-A8FA4CFACB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24" r="5558" b="5315"/>
          <a:stretch>
            <a:fillRect/>
          </a:stretch>
        </p:blipFill>
        <p:spPr>
          <a:xfrm>
            <a:off x="2097768" y="4140086"/>
            <a:ext cx="4478879" cy="2575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09F471-889D-E5C5-0B2A-09C3987D1BC8}"/>
              </a:ext>
            </a:extLst>
          </p:cNvPr>
          <p:cNvSpPr txBox="1"/>
          <p:nvPr/>
        </p:nvSpPr>
        <p:spPr>
          <a:xfrm>
            <a:off x="628650" y="2172193"/>
            <a:ext cx="7003073" cy="15557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48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32094-E167-A4F3-D7C0-5AFC68EE6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6571"/>
            <a:ext cx="7886700" cy="5850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model_sepslopes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rgbClr val="C00000"/>
                </a:solidFill>
              </a:rPr>
              <a:t>lm</a:t>
            </a:r>
            <a:r>
              <a:rPr lang="en-US" sz="2400" dirty="0"/>
              <a:t>(</a:t>
            </a:r>
            <a:r>
              <a:rPr lang="en-US" sz="2400" dirty="0" err="1"/>
              <a:t>clutch_size</a:t>
            </a:r>
            <a:r>
              <a:rPr lang="en-US" sz="2400" dirty="0"/>
              <a:t> ~ age * treatment, </a:t>
            </a:r>
            <a:r>
              <a:rPr lang="en-US" sz="2400" dirty="0">
                <a:solidFill>
                  <a:srgbClr val="00B050"/>
                </a:solidFill>
              </a:rPr>
              <a:t>data</a:t>
            </a:r>
            <a:r>
              <a:rPr lang="en-US" sz="2400" dirty="0"/>
              <a:t> = 	</a:t>
            </a:r>
            <a:r>
              <a:rPr lang="en-US" sz="2400" dirty="0" err="1"/>
              <a:t>head_start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anova</a:t>
            </a:r>
            <a:r>
              <a:rPr lang="en-US" sz="2400" dirty="0"/>
              <a:t>(</a:t>
            </a:r>
            <a:r>
              <a:rPr lang="en-US" sz="2400" dirty="0" err="1"/>
              <a:t>model_sepslopes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1900" dirty="0"/>
              <a:t>Analysis of Variance Table</a:t>
            </a:r>
          </a:p>
          <a:p>
            <a:pPr marL="0" indent="0">
              <a:buNone/>
            </a:pPr>
            <a:r>
              <a:rPr lang="en-US" sz="1900" dirty="0"/>
              <a:t>Response: </a:t>
            </a:r>
            <a:r>
              <a:rPr lang="en-US" sz="1900" dirty="0" err="1"/>
              <a:t>clutch_size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             	 	</a:t>
            </a:r>
            <a:r>
              <a:rPr lang="en-US" sz="1900" dirty="0" err="1"/>
              <a:t>Df</a:t>
            </a:r>
            <a:r>
              <a:rPr lang="en-US" sz="1900" dirty="0"/>
              <a:t>  	Sum Sq 	Mean Sq F value    </a:t>
            </a:r>
            <a:r>
              <a:rPr lang="en-US" sz="1900" dirty="0" err="1"/>
              <a:t>Pr</a:t>
            </a:r>
            <a:r>
              <a:rPr lang="en-US" sz="1900" dirty="0"/>
              <a:t>(&gt;F)    </a:t>
            </a:r>
          </a:p>
          <a:p>
            <a:pPr marL="0" indent="0">
              <a:buNone/>
            </a:pPr>
            <a:r>
              <a:rPr lang="en-US" sz="1900" dirty="0"/>
              <a:t>age            	1 	104.4	104.4	57.5	7.345e-10 ***</a:t>
            </a:r>
          </a:p>
          <a:p>
            <a:pPr marL="0" indent="0">
              <a:buNone/>
            </a:pPr>
            <a:r>
              <a:rPr lang="en-US" sz="1900" dirty="0"/>
              <a:t>treatment      	1  	16.3 	16.3 	9.0	0.004 ** </a:t>
            </a:r>
          </a:p>
          <a:p>
            <a:pPr marL="0" indent="0">
              <a:buNone/>
            </a:pPr>
            <a:r>
              <a:rPr lang="en-US" sz="1900" dirty="0" err="1"/>
              <a:t>age:treatment</a:t>
            </a:r>
            <a:r>
              <a:rPr lang="en-US" sz="1900" dirty="0"/>
              <a:t>	1   	8.1	8.1	4.5	0.038 *  </a:t>
            </a:r>
          </a:p>
          <a:p>
            <a:pPr marL="0" indent="0">
              <a:buNone/>
            </a:pPr>
            <a:r>
              <a:rPr lang="en-US" sz="1900" dirty="0"/>
              <a:t>Residuals	50  	90.7	1.8                      </a:t>
            </a:r>
          </a:p>
          <a:p>
            <a:pPr marL="0" indent="0">
              <a:buNone/>
            </a:pPr>
            <a:r>
              <a:rPr lang="en-US" sz="1900" dirty="0"/>
              <a:t>---</a:t>
            </a:r>
          </a:p>
          <a:p>
            <a:pPr marL="0" indent="0">
              <a:buNone/>
            </a:pPr>
            <a:r>
              <a:rPr lang="en-US" sz="1900" dirty="0" err="1"/>
              <a:t>Signif</a:t>
            </a:r>
            <a:r>
              <a:rPr lang="en-US" sz="1900" dirty="0"/>
              <a:t>. codes:  0 ‘***’ 0.001 ‘**’ 0.01 ‘*’ 0.05 ‘.’ 0.1 ‘ ’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DA7B49-2209-4D41-3035-0FEB2EC0CF5B}"/>
              </a:ext>
            </a:extLst>
          </p:cNvPr>
          <p:cNvSpPr/>
          <p:nvPr/>
        </p:nvSpPr>
        <p:spPr>
          <a:xfrm>
            <a:off x="5992586" y="4359729"/>
            <a:ext cx="1094014" cy="4735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A2E24-9987-81C9-0F01-03D29D76453A}"/>
              </a:ext>
            </a:extLst>
          </p:cNvPr>
          <p:cNvSpPr txBox="1"/>
          <p:nvPr/>
        </p:nvSpPr>
        <p:spPr>
          <a:xfrm>
            <a:off x="628650" y="2463914"/>
            <a:ext cx="7073412" cy="35500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08268-FCEF-CA52-9A6D-DBD7ED5DA76C}"/>
              </a:ext>
            </a:extLst>
          </p:cNvPr>
          <p:cNvSpPr txBox="1"/>
          <p:nvPr/>
        </p:nvSpPr>
        <p:spPr>
          <a:xfrm>
            <a:off x="6305654" y="4974746"/>
            <a:ext cx="2616340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Sig. Interaction = slopes are different for each group. Cannot just proceed to interpret main effects. Interpret slopes of groups separately.</a:t>
            </a:r>
          </a:p>
        </p:txBody>
      </p:sp>
    </p:spTree>
    <p:extLst>
      <p:ext uri="{BB962C8B-B14F-4D97-AF65-F5344CB8AC3E}">
        <p14:creationId xmlns:p14="http://schemas.microsoft.com/office/powerpoint/2010/main" val="164779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297B-F446-B2D6-CF6A-AF54C0DBC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51692"/>
            <a:ext cx="7886700" cy="58252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dirty="0" err="1">
                <a:solidFill>
                  <a:srgbClr val="7030A0"/>
                </a:solidFill>
              </a:rPr>
              <a:t>emmeans</a:t>
            </a:r>
            <a:r>
              <a:rPr lang="en-US" dirty="0"/>
              <a:t> package to help compare slopes; we already know they are significantly different, but what are the slope values?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C00000"/>
                </a:solidFill>
              </a:rPr>
              <a:t>emtrends</a:t>
            </a:r>
            <a:r>
              <a:rPr lang="en-US" dirty="0"/>
              <a:t>(</a:t>
            </a:r>
            <a:r>
              <a:rPr lang="en-US" dirty="0" err="1"/>
              <a:t>model_sepslopes</a:t>
            </a:r>
            <a:r>
              <a:rPr lang="en-US" dirty="0"/>
              <a:t>, pairwise ~ treatment, var = "age")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#$</a:t>
            </a:r>
            <a:r>
              <a:rPr lang="en-US" dirty="0" err="1"/>
              <a:t>emtrends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#treatment	</a:t>
            </a:r>
            <a:r>
              <a:rPr lang="en-US" dirty="0" err="1"/>
              <a:t>age.trend</a:t>
            </a:r>
            <a:r>
              <a:rPr lang="en-US" dirty="0"/>
              <a:t>     	SE 	</a:t>
            </a:r>
            <a:r>
              <a:rPr lang="en-US" dirty="0" err="1"/>
              <a:t>df</a:t>
            </a:r>
            <a:r>
              <a:rPr lang="en-US" dirty="0"/>
              <a:t>   </a:t>
            </a:r>
            <a:r>
              <a:rPr lang="en-US" dirty="0" err="1"/>
              <a:t>lower.CL</a:t>
            </a:r>
            <a:r>
              <a:rPr lang="en-US" dirty="0"/>
              <a:t> 	</a:t>
            </a:r>
            <a:r>
              <a:rPr lang="en-US" dirty="0" err="1"/>
              <a:t>upper.CL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</a:t>
            </a:r>
            <a:r>
              <a:rPr lang="en-US" b="1" dirty="0" err="1"/>
              <a:t>head_start</a:t>
            </a:r>
            <a:r>
              <a:rPr lang="en-US" dirty="0"/>
              <a:t>	</a:t>
            </a:r>
            <a:r>
              <a:rPr lang="en-US" b="1" dirty="0"/>
              <a:t>0.156</a:t>
            </a:r>
            <a:r>
              <a:rPr lang="en-US" dirty="0"/>
              <a:t> 		0.04 	50  0.066    	0.246</a:t>
            </a:r>
          </a:p>
          <a:p>
            <a:pPr marL="0" indent="0">
              <a:buNone/>
            </a:pPr>
            <a:r>
              <a:rPr lang="en-US" dirty="0"/>
              <a:t>#</a:t>
            </a:r>
            <a:r>
              <a:rPr lang="en-US" b="1" dirty="0"/>
              <a:t>natural</a:t>
            </a:r>
            <a:r>
              <a:rPr lang="en-US" dirty="0"/>
              <a:t>	</a:t>
            </a:r>
            <a:r>
              <a:rPr lang="en-US" b="1" dirty="0"/>
              <a:t>0.298</a:t>
            </a:r>
            <a:r>
              <a:rPr lang="en-US" dirty="0"/>
              <a:t> 		0.04	50  0.198    	0.397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#Confidence level used: 0.95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#$contrasts</a:t>
            </a:r>
          </a:p>
          <a:p>
            <a:pPr marL="0" indent="0">
              <a:buNone/>
            </a:pPr>
            <a:r>
              <a:rPr lang="en-US" dirty="0"/>
              <a:t>#contrast             	estimate  SE	</a:t>
            </a:r>
            <a:r>
              <a:rPr lang="en-US" dirty="0" err="1"/>
              <a:t>df</a:t>
            </a:r>
            <a:r>
              <a:rPr lang="en-US" dirty="0"/>
              <a:t>   </a:t>
            </a:r>
            <a:r>
              <a:rPr lang="en-US" dirty="0" err="1"/>
              <a:t>t.ratio</a:t>
            </a:r>
            <a:r>
              <a:rPr lang="en-US" dirty="0"/>
              <a:t>    </a:t>
            </a:r>
            <a:r>
              <a:rPr lang="en-US" dirty="0" err="1"/>
              <a:t>p.value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</a:t>
            </a:r>
            <a:r>
              <a:rPr lang="en-US" dirty="0" err="1"/>
              <a:t>head_start</a:t>
            </a:r>
            <a:r>
              <a:rPr lang="en-US" dirty="0"/>
              <a:t> – natural	-0.142 	  0.06 	50  -2.122    0.038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91ACD18-00A3-0D7B-12D2-445A7B8A9E85}"/>
              </a:ext>
            </a:extLst>
          </p:cNvPr>
          <p:cNvCxnSpPr>
            <a:cxnSpLocks/>
          </p:cNvCxnSpPr>
          <p:nvPr/>
        </p:nvCxnSpPr>
        <p:spPr>
          <a:xfrm flipH="1" flipV="1">
            <a:off x="3341077" y="3024554"/>
            <a:ext cx="1758461" cy="1107831"/>
          </a:xfrm>
          <a:prstGeom prst="straightConnector1">
            <a:avLst/>
          </a:prstGeom>
          <a:ln w="1270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E3D921-11AB-EDA8-20D6-82DA6F44360E}"/>
              </a:ext>
            </a:extLst>
          </p:cNvPr>
          <p:cNvSpPr txBox="1"/>
          <p:nvPr/>
        </p:nvSpPr>
        <p:spPr>
          <a:xfrm>
            <a:off x="5099538" y="3947719"/>
            <a:ext cx="2925288" cy="369332"/>
          </a:xfrm>
          <a:prstGeom prst="rect">
            <a:avLst/>
          </a:prstGeom>
          <a:noFill/>
          <a:ln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Group slopes (simple slopes)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F9DA0-EB1F-079E-8299-55E1BBB638B2}"/>
              </a:ext>
            </a:extLst>
          </p:cNvPr>
          <p:cNvSpPr txBox="1"/>
          <p:nvPr/>
        </p:nvSpPr>
        <p:spPr>
          <a:xfrm>
            <a:off x="2848706" y="6124154"/>
            <a:ext cx="2081211" cy="369332"/>
          </a:xfrm>
          <a:prstGeom prst="rect">
            <a:avLst/>
          </a:prstGeom>
          <a:noFill/>
          <a:ln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Difference in slopes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2CA63C-78FB-3B5C-0E0A-9B9AE4FC57D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889312" y="5715381"/>
            <a:ext cx="0" cy="408773"/>
          </a:xfrm>
          <a:prstGeom prst="straightConnector1">
            <a:avLst/>
          </a:prstGeom>
          <a:ln w="12700">
            <a:solidFill>
              <a:srgbClr val="0432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42B9459-2748-D7FC-7456-E43269A2628E}"/>
              </a:ext>
            </a:extLst>
          </p:cNvPr>
          <p:cNvSpPr txBox="1"/>
          <p:nvPr/>
        </p:nvSpPr>
        <p:spPr>
          <a:xfrm>
            <a:off x="628650" y="1848833"/>
            <a:ext cx="7886699" cy="38404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31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50E0A-0132-6170-E31F-E90149952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91041"/>
            <a:ext cx="8286750" cy="64559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Slopes are sig. different; not a very nuanced answer.</a:t>
            </a:r>
          </a:p>
          <a:p>
            <a:pPr marL="0" indent="0">
              <a:buNone/>
            </a:pPr>
            <a:r>
              <a:rPr lang="en-US" dirty="0"/>
              <a:t>Are there </a:t>
            </a:r>
            <a:r>
              <a:rPr lang="en-US" dirty="0">
                <a:solidFill>
                  <a:srgbClr val="7030A0"/>
                </a:solidFill>
              </a:rPr>
              <a:t>regions</a:t>
            </a:r>
            <a:r>
              <a:rPr lang="en-US" dirty="0"/>
              <a:t> where the slopes are sig. vs. </a:t>
            </a:r>
            <a:r>
              <a:rPr lang="en-US" dirty="0" err="1"/>
              <a:t>n.s</a:t>
            </a:r>
            <a:r>
              <a:rPr lang="en-US" dirty="0"/>
              <a:t>.?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library(</a:t>
            </a:r>
            <a:r>
              <a:rPr lang="en-US" sz="2400" dirty="0" err="1"/>
              <a:t>JNplots</a:t>
            </a:r>
            <a:r>
              <a:rPr lang="en-US" sz="2400" dirty="0">
                <a:solidFill>
                  <a:srgbClr val="00B050"/>
                </a:solidFill>
              </a:rPr>
              <a:t>) # tool for determining </a:t>
            </a:r>
            <a:r>
              <a:rPr lang="en-US" sz="2400" dirty="0" err="1">
                <a:solidFill>
                  <a:srgbClr val="00B050"/>
                </a:solidFill>
              </a:rPr>
              <a:t>n.s</a:t>
            </a:r>
            <a:r>
              <a:rPr lang="en-US" sz="2400" dirty="0">
                <a:solidFill>
                  <a:srgbClr val="00B050"/>
                </a:solidFill>
              </a:rPr>
              <a:t>. regions using the 	Johnson-Neyman technique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as.data.frame</a:t>
            </a:r>
            <a:r>
              <a:rPr lang="en-US" sz="2400" dirty="0"/>
              <a:t>(</a:t>
            </a:r>
            <a:r>
              <a:rPr lang="en-US" sz="2400" dirty="0" err="1"/>
              <a:t>head_start</a:t>
            </a:r>
            <a:r>
              <a:rPr lang="en-US" sz="2400" dirty="0"/>
              <a:t>) </a:t>
            </a:r>
            <a:r>
              <a:rPr lang="en-US" sz="2400" dirty="0">
                <a:solidFill>
                  <a:srgbClr val="00B050"/>
                </a:solidFill>
              </a:rPr>
              <a:t># forces </a:t>
            </a:r>
            <a:r>
              <a:rPr lang="en-US" sz="2400" dirty="0" err="1">
                <a:solidFill>
                  <a:srgbClr val="00B050"/>
                </a:solidFill>
              </a:rPr>
              <a:t>dataframe</a:t>
            </a:r>
            <a:r>
              <a:rPr lang="en-US" sz="2400" dirty="0">
                <a:solidFill>
                  <a:srgbClr val="00B050"/>
                </a:solidFill>
              </a:rPr>
              <a:t> for </a:t>
            </a:r>
            <a:r>
              <a:rPr lang="en-US" sz="2400" dirty="0" err="1">
                <a:solidFill>
                  <a:srgbClr val="00B050"/>
                </a:solidFill>
              </a:rPr>
              <a:t>JNplots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jnt_cat</a:t>
            </a:r>
            <a:r>
              <a:rPr lang="en-US" sz="2400" dirty="0"/>
              <a:t>(X = 'age', Y = '</a:t>
            </a:r>
            <a:r>
              <a:rPr lang="en-US" sz="2400" dirty="0" err="1"/>
              <a:t>clutch_size</a:t>
            </a:r>
            <a:r>
              <a:rPr lang="en-US" sz="2400" dirty="0"/>
              <a:t>', m = 'treatment', 	data = 	</a:t>
            </a:r>
            <a:r>
              <a:rPr lang="en-US" sz="2400" dirty="0" err="1"/>
              <a:t>head_start</a:t>
            </a:r>
            <a:r>
              <a:rPr lang="en-US" sz="2400" dirty="0"/>
              <a:t>, </a:t>
            </a:r>
            <a:r>
              <a:rPr lang="en-US" sz="2400" dirty="0" err="1"/>
              <a:t>plot.full</a:t>
            </a:r>
            <a:r>
              <a:rPr lang="en-US" sz="2400" dirty="0"/>
              <a:t> = TRUE) </a:t>
            </a:r>
            <a:r>
              <a:rPr lang="en-US" sz="2400" dirty="0">
                <a:solidFill>
                  <a:srgbClr val="00B050"/>
                </a:solidFill>
              </a:rPr>
              <a:t># use ' not some other char.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0D38D-88D6-5E76-F749-3AF6BB003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24" r="5558" b="5315"/>
          <a:stretch>
            <a:fillRect/>
          </a:stretch>
        </p:blipFill>
        <p:spPr>
          <a:xfrm>
            <a:off x="2097768" y="1148204"/>
            <a:ext cx="4057597" cy="233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9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FC88A6-8BFB-E41A-5263-D14F045E6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528" y="0"/>
            <a:ext cx="5623173" cy="63260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28D5-BCF0-A54D-3F26-E3C1B994D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23" y="211015"/>
            <a:ext cx="4128477" cy="64711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$`lower limit in X`</a:t>
            </a:r>
          </a:p>
          <a:p>
            <a:pPr marL="0" indent="0">
              <a:buNone/>
            </a:pPr>
            <a:r>
              <a:rPr lang="en-US" dirty="0"/>
              <a:t>(Intercept) </a:t>
            </a:r>
          </a:p>
          <a:p>
            <a:pPr marL="0" indent="0">
              <a:buNone/>
            </a:pPr>
            <a:r>
              <a:rPr lang="en-US" dirty="0"/>
              <a:t>   31.30804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$`upper limit in X`</a:t>
            </a:r>
          </a:p>
          <a:p>
            <a:pPr marL="0" indent="0">
              <a:buNone/>
            </a:pPr>
            <a:r>
              <a:rPr lang="en-US" dirty="0"/>
              <a:t>(Intercept) </a:t>
            </a:r>
          </a:p>
          <a:p>
            <a:pPr marL="0" indent="0">
              <a:buNone/>
            </a:pPr>
            <a:r>
              <a:rPr lang="en-US" dirty="0"/>
              <a:t>   43.71118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Gray box is range where slopes are non-significant.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Slopes are sig. different in white range of the covariate.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12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E6C9-5B68-46AB-5220-8B7233DCC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108" y="1032729"/>
            <a:ext cx="8809892" cy="58252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C00000"/>
                </a:solidFill>
              </a:rPr>
              <a:t>ggplot</a:t>
            </a:r>
            <a:r>
              <a:rPr lang="en-US" sz="2400" dirty="0"/>
              <a:t>(</a:t>
            </a:r>
            <a:r>
              <a:rPr lang="en-US" sz="2400" dirty="0" err="1"/>
              <a:t>head_start</a:t>
            </a:r>
            <a:r>
              <a:rPr lang="en-US" sz="2400" dirty="0"/>
              <a:t>, </a:t>
            </a:r>
            <a:r>
              <a:rPr lang="en-US" sz="2400" dirty="0" err="1">
                <a:solidFill>
                  <a:srgbClr val="C00000"/>
                </a:solidFill>
              </a:rPr>
              <a:t>aes</a:t>
            </a:r>
            <a:r>
              <a:rPr lang="en-US" sz="2400" dirty="0"/>
              <a:t>(x = age, y = </a:t>
            </a:r>
            <a:r>
              <a:rPr lang="en-US" sz="2400" dirty="0" err="1"/>
              <a:t>clutch_size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50"/>
                </a:solidFill>
              </a:rPr>
              <a:t>color</a:t>
            </a:r>
            <a:r>
              <a:rPr lang="en-US" sz="2400" dirty="0"/>
              <a:t> = treatment)) +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>
                <a:solidFill>
                  <a:srgbClr val="C00000"/>
                </a:solidFill>
              </a:rPr>
              <a:t>annotate</a:t>
            </a:r>
            <a:r>
              <a:rPr lang="en-US" sz="2400" dirty="0"/>
              <a:t>("</a:t>
            </a:r>
            <a:r>
              <a:rPr lang="en-US" sz="2400" dirty="0" err="1"/>
              <a:t>rect</a:t>
            </a:r>
            <a:r>
              <a:rPr lang="en-US" sz="2400" dirty="0"/>
              <a:t>",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 err="1"/>
              <a:t>xmin</a:t>
            </a:r>
            <a:r>
              <a:rPr lang="en-US" sz="2400" dirty="0"/>
              <a:t> = 31.3, </a:t>
            </a:r>
            <a:r>
              <a:rPr lang="en-US" sz="2400" dirty="0" err="1"/>
              <a:t>xmax</a:t>
            </a:r>
            <a:r>
              <a:rPr lang="en-US" sz="2400" dirty="0"/>
              <a:t> = 43.7, </a:t>
            </a:r>
            <a:r>
              <a:rPr lang="en-US" sz="2400" dirty="0">
                <a:solidFill>
                  <a:srgbClr val="00B050"/>
                </a:solidFill>
              </a:rPr>
              <a:t>#range of </a:t>
            </a:r>
            <a:r>
              <a:rPr lang="en-US" sz="2400" dirty="0" err="1">
                <a:solidFill>
                  <a:srgbClr val="00B050"/>
                </a:solidFill>
              </a:rPr>
              <a:t>n.s</a:t>
            </a:r>
            <a:r>
              <a:rPr lang="en-US" sz="2400" dirty="0">
                <a:solidFill>
                  <a:srgbClr val="00B050"/>
                </a:solidFill>
              </a:rPr>
              <a:t>. covariate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 err="1"/>
              <a:t>ymin</a:t>
            </a:r>
            <a:r>
              <a:rPr lang="en-US" sz="2400" dirty="0"/>
              <a:t> = -Inf, </a:t>
            </a:r>
            <a:r>
              <a:rPr lang="en-US" sz="2400" dirty="0" err="1"/>
              <a:t>ymax</a:t>
            </a:r>
            <a:r>
              <a:rPr lang="en-US" sz="2400" dirty="0"/>
              <a:t> = Inf,</a:t>
            </a:r>
          </a:p>
          <a:p>
            <a:pPr marL="0" indent="0">
              <a:buNone/>
            </a:pPr>
            <a:r>
              <a:rPr lang="en-US" sz="2400" dirty="0"/>
              <a:t>           fill = "grey", alpha = 0.3) +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>
                <a:solidFill>
                  <a:srgbClr val="C00000"/>
                </a:solidFill>
              </a:rPr>
              <a:t>geom_point</a:t>
            </a:r>
            <a:r>
              <a:rPr lang="en-US" sz="2400" dirty="0">
                <a:solidFill>
                  <a:srgbClr val="C00000"/>
                </a:solidFill>
              </a:rPr>
              <a:t>() </a:t>
            </a:r>
            <a:r>
              <a:rPr lang="en-US" sz="2400" dirty="0"/>
              <a:t>+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>
                <a:solidFill>
                  <a:srgbClr val="C00000"/>
                </a:solidFill>
              </a:rPr>
              <a:t>geom_smooth</a:t>
            </a:r>
            <a:r>
              <a:rPr lang="en-US" sz="2400" dirty="0"/>
              <a:t>(method = "</a:t>
            </a:r>
            <a:r>
              <a:rPr lang="en-US" sz="2400" dirty="0" err="1"/>
              <a:t>lm</a:t>
            </a:r>
            <a:r>
              <a:rPr lang="en-US" sz="2400" dirty="0"/>
              <a:t>", se = FALSE) +</a:t>
            </a:r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sz="2400" dirty="0" err="1">
                <a:solidFill>
                  <a:srgbClr val="C00000"/>
                </a:solidFill>
              </a:rPr>
              <a:t>theme_classic</a:t>
            </a:r>
            <a:r>
              <a:rPr lang="en-US" sz="2400" dirty="0"/>
              <a:t>(</a:t>
            </a:r>
            <a:r>
              <a:rPr lang="en-US" sz="2400" dirty="0" err="1"/>
              <a:t>base_size</a:t>
            </a:r>
            <a:r>
              <a:rPr lang="en-US" sz="2400" dirty="0"/>
              <a:t> = 14)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6928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A2FFC9-C0D3-45A8-2092-6B9EE0F8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9949"/>
            <a:ext cx="7772400" cy="46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85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A59F1-E268-F0DB-8217-C6D293D4C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03" y="1710285"/>
            <a:ext cx="7886700" cy="51477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/>
              <a:t>Results Statement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sz="2400" dirty="0"/>
              <a:t>“We tested the hypothesis that head-starting tortoises (</a:t>
            </a:r>
            <a:r>
              <a:rPr lang="en-US" sz="2400" dirty="0">
                <a:solidFill>
                  <a:srgbClr val="0432FF"/>
                </a:solidFill>
              </a:rPr>
              <a:t>treatment</a:t>
            </a:r>
            <a:r>
              <a:rPr lang="en-US" sz="2400" dirty="0"/>
              <a:t>) would increase their reproduction relative to tortoises not head-started (</a:t>
            </a:r>
            <a:r>
              <a:rPr lang="en-US" sz="2400" dirty="0">
                <a:solidFill>
                  <a:srgbClr val="0432FF"/>
                </a:solidFill>
              </a:rPr>
              <a:t>natural</a:t>
            </a:r>
            <a:r>
              <a:rPr lang="en-US" sz="2400" dirty="0"/>
              <a:t>; control group).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An analysis of covariance showed that clutch size increased with age (F</a:t>
            </a:r>
            <a:r>
              <a:rPr lang="en-US" sz="2400" baseline="-25000" dirty="0"/>
              <a:t>1,50</a:t>
            </a:r>
            <a:r>
              <a:rPr lang="en-US" sz="2400" dirty="0"/>
              <a:t>=57.5, P &lt; 0.001), but did so differently between natural and head-started individuals (slope = 0.156 vs. 0.298; t₅₀ = −2.12, p = 0.039). There was a significant interaction between age and treatment (F</a:t>
            </a:r>
            <a:r>
              <a:rPr lang="en-US" sz="2400" baseline="-25000" dirty="0"/>
              <a:t>1,50</a:t>
            </a:r>
            <a:r>
              <a:rPr lang="en-US" sz="2400" dirty="0"/>
              <a:t>=4.5, P &lt; 0.03), such that tortoises older than 31.3 and years did not differ in clutch size between treatment and control groups.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This clearly indicates that ‘head-starting’ benefits younger adult tortoises, but later in life (&gt;31 years of age) tortoises that were not head-started had clutch sizes that were not distinguishable from those that were (Johnson-Neyman test).” </a:t>
            </a:r>
          </a:p>
        </p:txBody>
      </p:sp>
      <p:pic>
        <p:nvPicPr>
          <p:cNvPr id="2" name="Picture 2" descr="$8 million partnership with NSF funds six new projects | Allen Family ...">
            <a:extLst>
              <a:ext uri="{FF2B5EF4-FFF2-40B4-BE49-F238E27FC236}">
                <a16:creationId xmlns:a16="http://schemas.microsoft.com/office/drawing/2014/main" id="{6C1C3DE3-F511-308A-5F1E-030862BE9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03" y="194319"/>
            <a:ext cx="3230880" cy="139107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aby gopher tortoises raised at Eckerd College released in Alabama ...">
            <a:extLst>
              <a:ext uri="{FF2B5EF4-FFF2-40B4-BE49-F238E27FC236}">
                <a16:creationId xmlns:a16="http://schemas.microsoft.com/office/drawing/2014/main" id="{EA1809D9-383E-5D37-8D54-89DABF25C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486" y="207104"/>
            <a:ext cx="2067433" cy="137828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Head-starting Program for California Desert Tortoises Begins | San ...">
            <a:extLst>
              <a:ext uri="{FF2B5EF4-FFF2-40B4-BE49-F238E27FC236}">
                <a16:creationId xmlns:a16="http://schemas.microsoft.com/office/drawing/2014/main" id="{E7A57836-0B95-A181-889F-D009E140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222" y="209302"/>
            <a:ext cx="2067433" cy="137326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470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2D52-75AD-B285-5C04-C0FB4869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31579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Caveat</a:t>
            </a:r>
            <a:r>
              <a:rPr lang="en-US" sz="2800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D02D8-779C-EBA6-DD31-FDBA1875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95468"/>
            <a:ext cx="7886700" cy="53324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Johnson-Neyman technique only works for comparison of </a:t>
            </a:r>
            <a:r>
              <a:rPr lang="en-US" dirty="0">
                <a:solidFill>
                  <a:srgbClr val="0432FF"/>
                </a:solidFill>
              </a:rPr>
              <a:t>two groups</a:t>
            </a:r>
            <a:r>
              <a:rPr lang="en-US" dirty="0"/>
              <a:t>.</a:t>
            </a:r>
          </a:p>
          <a:p>
            <a:r>
              <a:rPr lang="en-US" dirty="0"/>
              <a:t>Johnson–Neyman (J–N) can compare </a:t>
            </a:r>
            <a:r>
              <a:rPr lang="en-US" b="1" dirty="0"/>
              <a:t>multiple treatments</a:t>
            </a:r>
            <a:r>
              <a:rPr lang="en-US" dirty="0"/>
              <a:t>, but not in a single omnibus test. You must compute </a:t>
            </a:r>
            <a:r>
              <a:rPr lang="en-US" b="1" dirty="0"/>
              <a:t>pairwise J–N regions</a:t>
            </a:r>
            <a:r>
              <a:rPr lang="en-US" dirty="0"/>
              <a:t> for each pair of groups, because the technique fundamentally examines </a:t>
            </a:r>
            <a:r>
              <a:rPr lang="en-US" b="1" dirty="0"/>
              <a:t>differences between two regression slopes at a time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a three-group comparison this produces:</a:t>
            </a:r>
          </a:p>
          <a:p>
            <a:r>
              <a:rPr lang="en-US" dirty="0"/>
              <a:t>J–N region for group A vs B</a:t>
            </a:r>
          </a:p>
          <a:p>
            <a:r>
              <a:rPr lang="en-US" dirty="0"/>
              <a:t>J–N region for group A vs C</a:t>
            </a:r>
          </a:p>
          <a:p>
            <a:r>
              <a:rPr lang="en-US" dirty="0"/>
              <a:t>J–N region for group B vs C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982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4EAD00B-9044-7577-732D-FAAC0173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04007"/>
          </a:xfrm>
        </p:spPr>
        <p:txBody>
          <a:bodyPr>
            <a:normAutofit fontScale="90000"/>
          </a:bodyPr>
          <a:lstStyle/>
          <a:p>
            <a:r>
              <a:rPr lang="en-US" dirty="0"/>
              <a:t>Interpretation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1B82F6-0913-9578-A3E3-9064CA18C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68309"/>
            <a:ext cx="7886700" cy="841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If you have 3+ treatments, the J–N approach gives you a </a:t>
            </a:r>
            <a:r>
              <a:rPr lang="en-US" sz="2400" b="1" dirty="0"/>
              <a:t>map of significance</a:t>
            </a:r>
            <a:r>
              <a:rPr lang="en-US" sz="2400" dirty="0"/>
              <a:t> across the covariate: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B6FFDF2-0BE5-2001-4657-50C4556A7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089364"/>
              </p:ext>
            </p:extLst>
          </p:nvPr>
        </p:nvGraphicFramePr>
        <p:xfrm>
          <a:off x="1514192" y="1955548"/>
          <a:ext cx="5955671" cy="176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515">
                  <a:extLst>
                    <a:ext uri="{9D8B030D-6E8A-4147-A177-3AD203B41FA5}">
                      <a16:colId xmlns:a16="http://schemas.microsoft.com/office/drawing/2014/main" val="932474384"/>
                    </a:ext>
                  </a:extLst>
                </a:gridCol>
                <a:gridCol w="3413156">
                  <a:extLst>
                    <a:ext uri="{9D8B030D-6E8A-4147-A177-3AD203B41FA5}">
                      <a16:colId xmlns:a16="http://schemas.microsoft.com/office/drawing/2014/main" val="2741469037"/>
                    </a:ext>
                  </a:extLst>
                </a:gridCol>
              </a:tblGrid>
              <a:tr h="441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Pairwise Comparison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Significant Range of Covariate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8192734"/>
                  </a:ext>
                </a:extLst>
              </a:tr>
              <a:tr h="441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vs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e.g., covariate &gt; 12.4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33630"/>
                  </a:ext>
                </a:extLst>
              </a:tr>
              <a:tr h="441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vs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J–N region (never differ)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966078"/>
                  </a:ext>
                </a:extLst>
              </a:tr>
              <a:tr h="441570">
                <a:tc>
                  <a:txBody>
                    <a:bodyPr/>
                    <a:lstStyle/>
                    <a:p>
                      <a:r>
                        <a:rPr lang="en-US" dirty="0"/>
                        <a:t>B vs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covariate &lt; 8.7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1475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0811D34-70F1-FBAD-4544-6D8D77FFEAAA}"/>
              </a:ext>
            </a:extLst>
          </p:cNvPr>
          <p:cNvSpPr txBox="1"/>
          <p:nvPr/>
        </p:nvSpPr>
        <p:spPr>
          <a:xfrm>
            <a:off x="817830" y="3929204"/>
            <a:ext cx="73483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often </a:t>
            </a:r>
            <a:r>
              <a:rPr lang="en-US" sz="2400" b="1" dirty="0"/>
              <a:t>more informative than the raw ANCOVA interaction</a:t>
            </a:r>
            <a:r>
              <a:rPr lang="en-US" sz="2400" dirty="0"/>
              <a:t>, because it shows </a:t>
            </a:r>
            <a:r>
              <a:rPr lang="en-US" sz="2400" i="1" dirty="0"/>
              <a:t>where</a:t>
            </a:r>
            <a:r>
              <a:rPr lang="en-US" sz="2400" dirty="0"/>
              <a:t> differences occur.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432FF"/>
                </a:solidFill>
              </a:rPr>
              <a:t>We will only consider comparisons between two groups.</a:t>
            </a:r>
          </a:p>
        </p:txBody>
      </p:sp>
    </p:spTree>
    <p:extLst>
      <p:ext uri="{BB962C8B-B14F-4D97-AF65-F5344CB8AC3E}">
        <p14:creationId xmlns:p14="http://schemas.microsoft.com/office/powerpoint/2010/main" val="2150190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26C811-1D49-7915-1C16-D254158FD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078637-F6C9-921B-5AC8-DC3247667130}"/>
              </a:ext>
            </a:extLst>
          </p:cNvPr>
          <p:cNvSpPr txBox="1"/>
          <p:nvPr/>
        </p:nvSpPr>
        <p:spPr>
          <a:xfrm>
            <a:off x="360947" y="457200"/>
            <a:ext cx="2672848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ANCOVA Flow Chart</a:t>
            </a:r>
          </a:p>
        </p:txBody>
      </p:sp>
    </p:spTree>
    <p:extLst>
      <p:ext uri="{BB962C8B-B14F-4D97-AF65-F5344CB8AC3E}">
        <p14:creationId xmlns:p14="http://schemas.microsoft.com/office/powerpoint/2010/main" val="421634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EC69-20B8-1B4B-A347-FFDEF9046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65130-A426-824F-9A92-19CB98E76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54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2372</TotalTime>
  <Words>1329</Words>
  <Application>Microsoft Macintosh PowerPoint</Application>
  <PresentationFormat>On-screen Show (4:3)</PresentationFormat>
  <Paragraphs>142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What a Significant Interaction Means</vt:lpstr>
      <vt:lpstr>For models with significant interactions:</vt:lpstr>
      <vt:lpstr>What you should do:</vt:lpstr>
      <vt:lpstr>Example: Tortoise ‘Head-Starting’</vt:lpstr>
      <vt:lpstr>Import -&gt; fit model -&gt; evaluate slopes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Caveat:</vt:lpstr>
      <vt:lpstr>Interpretation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6</dc:title>
  <dc:creator>C.M. Gienger</dc:creator>
  <cp:lastModifiedBy>C.M. Gienger</cp:lastModifiedBy>
  <cp:revision>211</cp:revision>
  <dcterms:created xsi:type="dcterms:W3CDTF">2018-11-25T18:01:56Z</dcterms:created>
  <dcterms:modified xsi:type="dcterms:W3CDTF">2025-11-25T22:08:56Z</dcterms:modified>
</cp:coreProperties>
</file>